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61f569f-e523-a8db-b089-2095e37a5769}">
          <p14:sldIdLst>
            <p14:sldId id="256"/>
            <p14:sldId id="257"/>
            <p14:sldId id="258"/>
          </p14:sldIdLst>
        </p14:section>
        <p14:section name="01 Data Preparation &amp; EDA" id="{a2674bf4-5632-9d4a-a7f7-70e9761fe4e3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02 Database &amp; Advanced SQL" id="{89f7cc1b-f498-90f9-be9d-c1618799e285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03 Power BI Dashboard" id="{736f2ca1-8d7d-46f4-ba72-224a63893f6a}">
          <p14:sldIdLst>
            <p14:sldId id="283"/>
            <p14:sldId id="284"/>
            <p14:sldId id="285"/>
            <p14:sldId id="286"/>
          </p14:sldIdLst>
        </p14:section>
        <p14:section name="04 Business Analysis" id="{59e2f881-6324-00fe-a50d-11106b748ddb}">
          <p14:sldIdLst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</p14:sldIdLst>
        </p14:section>
        <p14:section name="Closing" id="{77622df1-f0dd-7e19-dec3-78e180958f7e}">
          <p14:sldIdLst>
            <p14:sldId id="298"/>
            <p14:sldId id="299"/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project analyzes a telecom customer dataset to understand why customers leave (churn) and what the company can do about it.
The work moves through four stages: Python, SQL, Power BI, and Business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team. Each member will present their own part: what they did and how they did it, then introduce the next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business question: why do telecom customers leave, and what can we do about it?
Data flow: the raw CSV is cleaned and enriched in Python, loaded into SQL Server as a star schema, visualized in Power BI, then turned into insights and recommendations.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1: Python. We load the raw data, check its quality, fix problems, explore churn patterns and create new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did: Loaded the raw telecom customer file and inspected its size, columns and data types.
How: pandas read_csv, then df.shape, head(), info() and describe(include='all').
Key point: The raw file holds 7,043 customer records across 21 columns.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did: Checked every column for missing values, customerID for duplicates, and the most common TotalCharges values.
How: df.isnull().sum(), customerID.duplicated().sum() and TotalCharges.value_counts().
Key point: Zero nulls and zero duplicate IDs, but TotalCharges quietly hides 11 blank entries.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did: Isolated the blank TotalCharges entries that isnull() could not see.
How: Filtered rows where TotalCharges.str.strip() equals an empty string and listed their key columns.
Key point: All 11 blank values belong to customers with tenure 0: brand-new customers who have not been billed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did: Converted TotalCharges from text to a numeric column and filled the blanks with 0.
How: Replaced blanks with NaN, pd.to_numeric(), then fillna(0).
Key point: A new customer has paid nothing yet, so 0 is a sensible fill, and the column is now a clean float64.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did: Plotted tenure, MonthlyCharges and TotalCharges to see how customers are spread.
How: df[[...]].hist() with 30 bins.
Key point: Tenure peaks at both ends, with many brand-new and many long-term customers, and TotalCharges is right-skewed.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did: Compared churn rates across contract, internet service, payment method, tech support, online security and dependents.
How: A 2×3 grid of bar charts showing churn rate (%) for each category.
Key point: Month-to-month contracts, fiber optic and electronic check show the highest churn, and customers with tech support or security churn far less.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did: Created CustomerType (new or old) and AvgMonthlySpend.
How: Tenure of 12 months or less is a New Customer. AvgMonthlySpend is TotalCharges divided by tenure, with tenure 0 treated as 1.
Key point: Two new columns describe how long a customer has been with the company and what they typically spend.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did: Counted each customer's add-on services, then segmented customers by spending and service level.
How: TotalServices counts 6 add-ons. Spend: under 50, 50 to 80, 80+. Services: 0 to 1, 2 to 3, 4+.
Key point: Customers now fall into spending segments (low, medium, high) and service segments (basic, multi-service, highly engaged).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did: Exported the cleaned, enriched dataset for SQL and Power BI.
How: df.to_csv('Mini V2 py.csv', index=False).
Key point: The output is 7,043 rows × 26 columns (21 original plus 5 engineered), ready to load into the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2: SQL. The Python output becomes the data_after_py table. First we build a star schema, then we analyze churn with SQL queries, then we use advanced SQL: a CTE, RANK, window functions and a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did: Created the customer dimension: one row per customer, with a surrogate key.
How: CREATE TABLE with an identity primary key and a unique customerID, INSERT DISTINCT from data_after_py, then COUNT(*) to check the rows.
Key point: Every customer gets a unique CustomerKey. DimContract, DimInternetService and DimPaymentMethod are built the same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did: Defined the fact table that holds the measures and the keys to the four dimensions.
How: An identity primary key, four key columns, tenure, charges, churn and service columns, then FOREIGN KEY constraints to the dimensions.
Key point: One central fact table: the numbers (tenure, charges, churn, services) plus a key to each dimension.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did: Started filling the fact table from the Python output.
How: INSERT INTO FactCustomerChurn with its column list, then a SELECT of the dimension keys and the values from data_after_py.
Key point: The column list maps every fact column to a value from the source table or to a dimension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did: Joined the source table to the four dimensions to look up each key, then counted the inserted rows.
How: INNER JOINs from data_after_py to DimCustomer, DimContract, DimInternetService and DimPaymentMethod, then SELECT COUNT(*) on the fact table.
Key point: The joins attach the correct key from every dimension to each fact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did: Calculated the overall churn rate, then the churn rate for each contract type.
How: SUM(CASE WHEN churn = 1 ...) × 100.0 ÷ COUNT(*) on data_after_py, then the same grouped by contract.
Key point: Overall churn is 26.54%, but month-to-month contracts churn at 42.71% versus 11.27% and 2.83% for longer contracts.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did: Compared churn across the internet service types.
How: COUNT, SUM(CASE WHEN churn = 1 ...) and the churn rate, grouped by InternetService.
Key point: Fiber optic customers churn at 41.89%, more than twice the DSL rate (18.96%) and over five times the rate with no internet (7.40%).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did: Estimated how much revenue each group generated over its lifetime.
How: AVG(MonthlyCharges × tenure), grouped by churn. A simplified measure.
Key point: Churned customers generated about $1,532 on average versus $2,550 for retained customers, about 40% less.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did: Compared customers, average and total monthly charges, and the churn rate for each contract.
How: COUNT, AVG and SUM of MonthlyCharges plus the churn rate, grouped by contract and ordered by churn rate.
Key point: Month-to-month customers pay the most per month (about $66.40) and bring in $257K, 56% of all monthly charges, yet churn at 42.71%.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did: Grouped customers into low, medium and high monthly charges and compared churn.
How: A CASE expression on MonthlyCharges: under 35, under 70, otherwise high; then the churn rate per group.
Key point: The higher the monthly bill, the higher the churn: 35.48% for high charges versus 10.86% for low charges.
Note: these thresholds (35 and 70) are separate from the Python spending segments (50 and 80).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did: Counted customers and churners per contract inside a CTE, then calculated the churn rate.
How: WITH contract_churn AS (...) over FactCustomerChurn joined to DimContract, with the rate cast to decimal(5,2).
Key point: The star schema gives the same answer as the raw table: 42.71%, 11.27% and 2.83%.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did: Ranked the contract types by their number of churned customers.
How: RANK() OVER (ORDER BY SUM(CASE WHEN f.Churn = 1 ...) DESC).
Key point: Month-to-month ranks first with 1,655 churned customers, ahead of one-year (166) and two-year (48).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did: Added each contract's total and churned customer counts to every customer row, without collapsing the rows.
How: COUNT(*) OVER (PARTITION BY dc.Contract) and SUM(CAST(f.Churn AS int)) OVER (PARTITION BY dc.Contract).
Key point: Every month-to-month row carries its group totals: 3,875 customers and 1,655 churned.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did: Saved the contract churn summary as a view.
How: CREATE VIEW over the fact and contract tables, then SELECT * from the view ordered by ChurnRate.
Key point: The view returns the same figures (42.71%, 11.27%, 2.83%) and can be queried directly by Power 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3: Power BI. The dashboard has three pages: Overview, Customer Insights and Financial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did: An executive summary of customers, churn and contract performance.
How: KPI cards, a churned vs retained donut, churn rate by contract and gender, and buttons to the other pages.
Key point: 7,043 customers, 1,869 churned (26.54%), and an average tenure of 32 months.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did: Explores churn across demographics and customer segments.
How: Churn-rate charts by gender, senior citizen, dependents, partner, streaming and contract, plus customer and service segment filters.
Key point: Customers without dependents churn at about 31%, versus about 15.5% for customers with dependents.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did: Links churn to revenue, customer type and payment method.
How: Monthly charges by churn and customer type, churn by payment method, average tenure by churn, and payment and internet filters.
Key point: Churned customers hold $139.13K (30.5%) of the $456.12K in monthly charges, and electronic check shows the highest churn.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4: Business analysis. We define the KPIs, identify what drives churn, extract the insights and turn them into recommendations.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the KPIs: churn rate = churned customers / total customers; retention rate = retained / total; revenue tied to churn = monthly charges of churned customers / total monthly charges.
Churners pay more and leave sooner.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Month-to-month customers can leave at any time and do. Longer contracts keep customers.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customers who leave do so early. Onboarding and early contracts are where the opportunity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Bank transfer and credit card are automatic payment methods. They are the stickiest.
The fiber and electronic-check effects remain even when we compare only month-to-month customers, so they are not just a contract effect.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Customers without internet are excluded here, so the comparison is fair.
Add-ons may mark more engaged customers, so a free-trial test is the right way to confirm the effect.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Teal bars are the higher-risk groups, navy bars the comparison groups, gray bars the non-driver (gender).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Combining the top three risk factors isolates a small group that accounts for a large share of churn. This is the natural target list for a retention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Recommendations 1 to 4 target contract, onboarding, fiber and support. Each is tied to evidence from the previous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Recommendations 5 to 7: move payers to auto-pay, support seniors and singles, and give the retention team a prioritized list.
The scale estimate is simple arithmetic: 10% of 1,307 customers is about 131.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clear about limits: these are patterns in the data, not proven causes. The next step is to test the ideas with small pilots before rolling them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five takeaways: concentrated churn, the first-year danger zone, the risk markers, the high-risk segment, and the plan to test before scaling.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1.png"/><Relationship Id="rId3" Type="http://schemas.openxmlformats.org/officeDocument/2006/relationships/image" Target="../media/image-1002-1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1.png"/><Relationship Id="rId3" Type="http://schemas.openxmlformats.org/officeDocument/2006/relationships/image" Target="../media/image-1003-1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image-1004-1.png"/><Relationship Id="rId3" Type="http://schemas.openxmlformats.org/officeDocument/2006/relationships/image" Target="../media/image-1004-1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image-1005-1.png"/><Relationship Id="rId3" Type="http://schemas.openxmlformats.org/officeDocument/2006/relationships/image" Target="../media/image-1005-1.png"/><Relationship Id="rId4" Type="http://schemas.openxmlformats.org/officeDocument/2006/relationships/image" Target="../media/image-1005-4.png"/><Relationship Id="rId5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1-1.png"/><Relationship Id="rId2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2-1.png"/><Relationship Id="rId2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circl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-1097280"/>
            <a:ext cx="3657600" cy="3657600"/>
          </a:xfrm>
          <a:prstGeom prst="rect">
            <a:avLst/>
          </a:prstGeom>
        </p:spPr>
      </p:pic>
      <p:pic>
        <p:nvPicPr>
          <p:cNvPr id="3" name="Image 1" descr="/home/claude/build/circl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0" y="5120640"/>
            <a:ext cx="2377440" cy="2377440"/>
          </a:xfrm>
          <a:prstGeom prst="rect">
            <a:avLst/>
          </a:prstGeom>
        </p:spPr>
      </p:pic>
      <p:pic>
        <p:nvPicPr>
          <p:cNvPr id="4" name="Image 2" descr="/home/claude/build/circl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00" y="5394960"/>
            <a:ext cx="2743200" cy="2743200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3" type="title" hasCustomPrompt="1"/>
          </p:nvPr>
        </p:nvSpPr>
        <p:spPr>
          <a:xfrm>
            <a:off x="548640" y="141732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ENT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circl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-1097280"/>
            <a:ext cx="3657600" cy="3657600"/>
          </a:xfrm>
          <a:prstGeom prst="rect">
            <a:avLst/>
          </a:prstGeom>
        </p:spPr>
      </p:pic>
      <p:pic>
        <p:nvPicPr>
          <p:cNvPr id="3" name="Image 1" descr="/home/claude/build/circl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0" y="5120640"/>
            <a:ext cx="2377440" cy="2377440"/>
          </a:xfrm>
          <a:prstGeom prst="rect">
            <a:avLst/>
          </a:prstGeom>
        </p:spPr>
      </p:pic>
      <p:pic>
        <p:nvPicPr>
          <p:cNvPr id="4" name="Image 2" descr="/home/claude/build/circl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00" y="5394960"/>
            <a:ext cx="2743200" cy="2743200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3" type="title" hasCustomPrompt="1"/>
          </p:nvPr>
        </p:nvSpPr>
        <p:spPr>
          <a:xfrm>
            <a:off x="1371600" y="2377440"/>
            <a:ext cx="9445752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54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1371600" y="3794760"/>
            <a:ext cx="944575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algn="ctr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circl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-1097280"/>
            <a:ext cx="3657600" cy="3657600"/>
          </a:xfrm>
          <a:prstGeom prst="rect">
            <a:avLst/>
          </a:prstGeom>
        </p:spPr>
      </p:pic>
      <p:pic>
        <p:nvPicPr>
          <p:cNvPr id="3" name="Image 1" descr="/home/claude/build/circl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0" y="5120640"/>
            <a:ext cx="2377440" cy="2377440"/>
          </a:xfrm>
          <a:prstGeom prst="rect">
            <a:avLst/>
          </a:prstGeom>
        </p:spPr>
      </p:pic>
      <p:pic>
        <p:nvPicPr>
          <p:cNvPr id="4" name="Image 2" descr="/home/claude/build/circl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00" y="5394960"/>
            <a:ext cx="2743200" cy="2743200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3" type="title" hasCustomPrompt="1"/>
          </p:nvPr>
        </p:nvSpPr>
        <p:spPr>
          <a:xfrm>
            <a:off x="822960" y="3063240"/>
            <a:ext cx="93268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822960" y="4069080"/>
            <a:ext cx="8778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8C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OP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circl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-1097280"/>
            <a:ext cx="3657600" cy="3657600"/>
          </a:xfrm>
          <a:prstGeom prst="rect">
            <a:avLst/>
          </a:prstGeom>
        </p:spPr>
      </p:pic>
      <p:pic>
        <p:nvPicPr>
          <p:cNvPr id="3" name="Image 1" descr="/home/claude/build/circl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0" y="5120640"/>
            <a:ext cx="2377440" cy="2377440"/>
          </a:xfrm>
          <a:prstGeom prst="rect">
            <a:avLst/>
          </a:prstGeom>
        </p:spPr>
      </p:pic>
      <p:pic>
        <p:nvPicPr>
          <p:cNvPr id="4" name="Image 2" descr="/home/claude/build/circl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00" y="5394960"/>
            <a:ext cx="2743200" cy="2743200"/>
          </a:xfrm>
          <a:prstGeom prst="rect">
            <a:avLst/>
          </a:prstGeom>
        </p:spPr>
      </p:pic>
      <p:pic>
        <p:nvPicPr>
          <p:cNvPr id="5" name="Image 3" descr="/home/claude/build/dot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02336"/>
            <a:ext cx="109728" cy="109728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658368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7" name="Text 1"/>
          <p:cNvSpPr/>
          <p:nvPr>
            <p:ph idx="105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8C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GEN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dot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02336"/>
            <a:ext cx="109728" cy="1097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OVERVIEW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pic>
        <p:nvPicPr>
          <p:cNvPr id="5" name="Image 1" descr="/home/claude/build/dot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583680"/>
            <a:ext cx="54864" cy="5486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85216" y="649224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Telecom Customer Churn Analysis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PY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dot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02336"/>
            <a:ext cx="109728" cy="1097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01  ·  DATA PREPARATION &amp; EDA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pic>
        <p:nvPicPr>
          <p:cNvPr id="5" name="Image 1" descr="/home/claude/build/dot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583680"/>
            <a:ext cx="54864" cy="5486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85216" y="649224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Data Preparation &amp; EDA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SQL_STAR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dot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02336"/>
            <a:ext cx="109728" cy="1097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02  ·  SQL  ·  STAR SCHEMA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pic>
        <p:nvPicPr>
          <p:cNvPr id="5" name="Image 1" descr="/home/claude/build/dot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583680"/>
            <a:ext cx="54864" cy="5486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85216" y="649224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Database &amp; Advanced SQL  ·  Star Schema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SQL_ANA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dot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02336"/>
            <a:ext cx="109728" cy="1097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02  ·  SQL  ·  ANALYSIS QUERIES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pic>
        <p:nvPicPr>
          <p:cNvPr id="5" name="Image 1" descr="/home/claude/build/dot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583680"/>
            <a:ext cx="54864" cy="5486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85216" y="649224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Database &amp; Advanced SQL  ·  Analysis Queries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SQL_ADV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dot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02336"/>
            <a:ext cx="109728" cy="1097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02  ·  SQL  ·  ADVANCED SQL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pic>
        <p:nvPicPr>
          <p:cNvPr id="5" name="Image 1" descr="/home/claude/build/dot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583680"/>
            <a:ext cx="54864" cy="5486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85216" y="649224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Database &amp; Advanced SQL  ·  Advanced SQL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PBI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dot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02336"/>
            <a:ext cx="109728" cy="1097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03  ·  POWER BI DASHBOARD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pic>
        <p:nvPicPr>
          <p:cNvPr id="5" name="Image 1" descr="/home/claude/build/dot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583680"/>
            <a:ext cx="54864" cy="5486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85216" y="649224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Power BI Dashboard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BA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dot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02336"/>
            <a:ext cx="109728" cy="1097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04  ·  BUSINESS ANALYSIS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pic>
        <p:nvPicPr>
          <p:cNvPr id="5" name="Image 1" descr="/home/claude/build/dot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583680"/>
            <a:ext cx="54864" cy="5486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85216" y="649224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Business Analysis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8C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548640" y="14173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Telecom Customer Churn Analysis</a:t>
            </a:r>
            <a:endParaRPr lang="en-US" sz="4600" dirty="0"/>
          </a:p>
        </p:txBody>
      </p:sp>
      <p:sp>
        <p:nvSpPr>
          <p:cNvPr id="3" name="Tag dot"/>
          <p:cNvSpPr/>
          <p:nvPr/>
        </p:nvSpPr>
        <p:spPr>
          <a:xfrm>
            <a:off x="548640" y="1051560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91440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4"/>
                </a:solidFill>
              </a:rPr>
              <a:t>DEPI MINI PROJECT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6974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Cleaning, modeling, visualizing and interpreting data from 7,043 telecom customers to understand why customers leave and how to keep them.</a:t>
            </a:r>
            <a:endParaRPr lang="en-US" sz="1800" dirty="0"/>
          </a:p>
        </p:txBody>
      </p:sp>
      <p:sp>
        <p:nvSpPr>
          <p:cNvPr id="6" name="Stat card"/>
          <p:cNvSpPr/>
          <p:nvPr/>
        </p:nvSpPr>
        <p:spPr>
          <a:xfrm>
            <a:off x="566928" y="406908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41605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7,043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48463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Customers</a:t>
            </a:r>
            <a:endParaRPr lang="en-US" sz="1400" dirty="0"/>
          </a:p>
        </p:txBody>
      </p:sp>
      <p:sp>
        <p:nvSpPr>
          <p:cNvPr id="9" name="Stat card"/>
          <p:cNvSpPr/>
          <p:nvPr/>
        </p:nvSpPr>
        <p:spPr>
          <a:xfrm>
            <a:off x="3355848" y="406908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55848" y="41605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26.5%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3493008" y="48463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Churn rate</a:t>
            </a:r>
            <a:endParaRPr lang="en-US" sz="1400" dirty="0"/>
          </a:p>
        </p:txBody>
      </p:sp>
      <p:sp>
        <p:nvSpPr>
          <p:cNvPr id="12" name="Stat card"/>
          <p:cNvSpPr/>
          <p:nvPr/>
        </p:nvSpPr>
        <p:spPr>
          <a:xfrm>
            <a:off x="6144768" y="406908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44768" y="41605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26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281928" y="48463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Variables (21 original + 5 engineered)</a:t>
            </a:r>
            <a:endParaRPr lang="en-US" sz="1400" dirty="0"/>
          </a:p>
        </p:txBody>
      </p:sp>
      <p:sp>
        <p:nvSpPr>
          <p:cNvPr id="15" name="Stat card"/>
          <p:cNvSpPr/>
          <p:nvPr/>
        </p:nvSpPr>
        <p:spPr>
          <a:xfrm>
            <a:off x="8933688" y="406908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33688" y="41605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30.5%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9070848" y="48463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of monthly charges tied to churned customers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58978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8CF"/>
                </a:solidFill>
              </a:rPr>
              <a:t>Python   →   SQL   →   Power BI   →   Business Analysis   →   Recommendations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Meet the Team</a:t>
            </a:r>
            <a:endParaRPr lang="en-US" sz="2800" dirty="0"/>
          </a:p>
        </p:txBody>
      </p:sp>
      <p:sp>
        <p:nvSpPr>
          <p:cNvPr id="3" name="Team card"/>
          <p:cNvSpPr/>
          <p:nvPr/>
        </p:nvSpPr>
        <p:spPr>
          <a:xfrm>
            <a:off x="457200" y="1600200"/>
            <a:ext cx="2057400" cy="338328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Initials badge"/>
          <p:cNvSpPr/>
          <p:nvPr/>
        </p:nvSpPr>
        <p:spPr>
          <a:xfrm>
            <a:off x="1028700" y="201168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870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AM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37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Asmaa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490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Mostafa</a:t>
            </a:r>
            <a:endParaRPr lang="en-US" sz="2000" dirty="0"/>
          </a:p>
        </p:txBody>
      </p:sp>
      <p:sp>
        <p:nvSpPr>
          <p:cNvPr id="8" name="Team card"/>
          <p:cNvSpPr/>
          <p:nvPr/>
        </p:nvSpPr>
        <p:spPr>
          <a:xfrm>
            <a:off x="2761488" y="1600200"/>
            <a:ext cx="2057400" cy="338328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Initials badge"/>
          <p:cNvSpPr/>
          <p:nvPr/>
        </p:nvSpPr>
        <p:spPr>
          <a:xfrm>
            <a:off x="3332988" y="201168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32988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MK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852928" y="3337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Mahmoud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852928" y="37490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Kosbar</a:t>
            </a:r>
            <a:endParaRPr lang="en-US" sz="2000" dirty="0"/>
          </a:p>
        </p:txBody>
      </p:sp>
      <p:sp>
        <p:nvSpPr>
          <p:cNvPr id="13" name="Team card"/>
          <p:cNvSpPr/>
          <p:nvPr/>
        </p:nvSpPr>
        <p:spPr>
          <a:xfrm>
            <a:off x="5065776" y="1600200"/>
            <a:ext cx="2057400" cy="338328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Initials badge"/>
          <p:cNvSpPr/>
          <p:nvPr/>
        </p:nvSpPr>
        <p:spPr>
          <a:xfrm>
            <a:off x="5637276" y="201168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37276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ME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157216" y="3337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Mariam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157216" y="37490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Ehab</a:t>
            </a:r>
            <a:endParaRPr lang="en-US" sz="2000" dirty="0"/>
          </a:p>
        </p:txBody>
      </p:sp>
      <p:sp>
        <p:nvSpPr>
          <p:cNvPr id="18" name="Team card"/>
          <p:cNvSpPr/>
          <p:nvPr/>
        </p:nvSpPr>
        <p:spPr>
          <a:xfrm>
            <a:off x="7370064" y="1600200"/>
            <a:ext cx="2057400" cy="338328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9" name="Initials badge"/>
          <p:cNvSpPr/>
          <p:nvPr/>
        </p:nvSpPr>
        <p:spPr>
          <a:xfrm>
            <a:off x="7941564" y="201168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41564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RH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7461504" y="3337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Renad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461504" y="37490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Al Haddad</a:t>
            </a:r>
            <a:endParaRPr lang="en-US" sz="2000" dirty="0"/>
          </a:p>
        </p:txBody>
      </p:sp>
      <p:sp>
        <p:nvSpPr>
          <p:cNvPr id="23" name="Team card"/>
          <p:cNvSpPr/>
          <p:nvPr/>
        </p:nvSpPr>
        <p:spPr>
          <a:xfrm>
            <a:off x="9674352" y="1600200"/>
            <a:ext cx="2057400" cy="338328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4" name="Initials badge"/>
          <p:cNvSpPr/>
          <p:nvPr/>
        </p:nvSpPr>
        <p:spPr>
          <a:xfrm>
            <a:off x="10245852" y="201168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245852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ZE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9765792" y="3337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Zakarya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765792" y="37490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Elbreshy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5440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DEPI Track  ·  Data Analysis Mini Project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Presentation Roadmap</a:t>
            </a:r>
            <a:endParaRPr lang="en-US" sz="2800" dirty="0"/>
          </a:p>
        </p:txBody>
      </p:sp>
      <p:sp>
        <p:nvSpPr>
          <p:cNvPr id="3" name="Roadmap row"/>
          <p:cNvSpPr/>
          <p:nvPr/>
        </p:nvSpPr>
        <p:spPr>
          <a:xfrm>
            <a:off x="457200" y="1280160"/>
            <a:ext cx="11274552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Number badge"/>
          <p:cNvSpPr/>
          <p:nvPr/>
        </p:nvSpPr>
        <p:spPr>
          <a:xfrm>
            <a:off x="640080" y="1417320"/>
            <a:ext cx="594360" cy="594360"/>
          </a:xfrm>
          <a:prstGeom prst="roundRect">
            <a:avLst>
              <a:gd name="adj" fmla="val 1230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389888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Data Preparation &amp; EDA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556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Cleaning the raw dataset, exploring churn patterns and engineering new features.</a:t>
            </a:r>
            <a:endParaRPr lang="en-US" sz="1400" dirty="0"/>
          </a:p>
        </p:txBody>
      </p:sp>
      <p:sp>
        <p:nvSpPr>
          <p:cNvPr id="8" name="Roadmap row"/>
          <p:cNvSpPr/>
          <p:nvPr/>
        </p:nvSpPr>
        <p:spPr>
          <a:xfrm>
            <a:off x="457200" y="2304288"/>
            <a:ext cx="11274552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Number badge"/>
          <p:cNvSpPr/>
          <p:nvPr/>
        </p:nvSpPr>
        <p:spPr>
          <a:xfrm>
            <a:off x="640080" y="2441448"/>
            <a:ext cx="594360" cy="594360"/>
          </a:xfrm>
          <a:prstGeom prst="roundRect">
            <a:avLst>
              <a:gd name="adj" fmla="val 1230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4414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414016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Database &amp; Advanced SQL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779776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A star schema in SQL Server, data cleaning, CTEs, ranking, views and analysis queries.</a:t>
            </a:r>
            <a:endParaRPr lang="en-US" sz="1400" dirty="0"/>
          </a:p>
        </p:txBody>
      </p:sp>
      <p:sp>
        <p:nvSpPr>
          <p:cNvPr id="13" name="Roadmap row"/>
          <p:cNvSpPr/>
          <p:nvPr/>
        </p:nvSpPr>
        <p:spPr>
          <a:xfrm>
            <a:off x="457200" y="3328416"/>
            <a:ext cx="11274552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Number badge"/>
          <p:cNvSpPr/>
          <p:nvPr/>
        </p:nvSpPr>
        <p:spPr>
          <a:xfrm>
            <a:off x="640080" y="3465576"/>
            <a:ext cx="594360" cy="594360"/>
          </a:xfrm>
          <a:prstGeom prst="roundRect">
            <a:avLst>
              <a:gd name="adj" fmla="val 1230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46557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438144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Power BI Dashboard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803904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Three interactive pages: Overview, Customer Insights and Financial Analysis.</a:t>
            </a:r>
            <a:endParaRPr lang="en-US" sz="1400" dirty="0"/>
          </a:p>
        </p:txBody>
      </p:sp>
      <p:sp>
        <p:nvSpPr>
          <p:cNvPr id="18" name="Roadmap row"/>
          <p:cNvSpPr/>
          <p:nvPr/>
        </p:nvSpPr>
        <p:spPr>
          <a:xfrm>
            <a:off x="457200" y="4352544"/>
            <a:ext cx="11274552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9" name="Number badge"/>
          <p:cNvSpPr/>
          <p:nvPr/>
        </p:nvSpPr>
        <p:spPr>
          <a:xfrm>
            <a:off x="640080" y="4489704"/>
            <a:ext cx="594360" cy="594360"/>
          </a:xfrm>
          <a:prstGeom prst="roundRect">
            <a:avLst>
              <a:gd name="adj" fmla="val 1230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448970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446227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Business Analysis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82803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KPIs, churn drivers, insights and recommendations.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5440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DATA FLOW</a:t>
            </a:r>
            <a:endParaRPr lang="en-US" sz="1100" dirty="0"/>
          </a:p>
        </p:txBody>
      </p:sp>
      <p:sp>
        <p:nvSpPr>
          <p:cNvPr id="24" name="Flow chip"/>
          <p:cNvSpPr/>
          <p:nvPr/>
        </p:nvSpPr>
        <p:spPr>
          <a:xfrm>
            <a:off x="457200" y="5733288"/>
            <a:ext cx="1828800" cy="54864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57332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Raw CSV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2286000" y="5733288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27" name="Flow chip"/>
          <p:cNvSpPr/>
          <p:nvPr/>
        </p:nvSpPr>
        <p:spPr>
          <a:xfrm>
            <a:off x="2816352" y="5733288"/>
            <a:ext cx="1828800" cy="54864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816352" y="57332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Python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645152" y="5733288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30" name="Flow chip"/>
          <p:cNvSpPr/>
          <p:nvPr/>
        </p:nvSpPr>
        <p:spPr>
          <a:xfrm>
            <a:off x="5175504" y="5733288"/>
            <a:ext cx="1828800" cy="54864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175504" y="57332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SQL Server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04304" y="5733288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33" name="Flow chip"/>
          <p:cNvSpPr/>
          <p:nvPr/>
        </p:nvSpPr>
        <p:spPr>
          <a:xfrm>
            <a:off x="7534656" y="5733288"/>
            <a:ext cx="1828800" cy="54864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534656" y="57332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Power BI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363456" y="5733288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36" name="Flow chip"/>
          <p:cNvSpPr/>
          <p:nvPr/>
        </p:nvSpPr>
        <p:spPr>
          <a:xfrm>
            <a:off x="9893808" y="5733288"/>
            <a:ext cx="1828800" cy="54864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893808" y="57332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Insights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822960" y="306324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Data Preparation &amp; EDA</a:t>
            </a:r>
            <a:endParaRPr lang="en-US" sz="40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822960" y="40690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Loading, cleaning and exploring the raw dataset, then engineering features for SQL and Power BI.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8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8C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Loading the Raw Telco Dataset</a:t>
            </a:r>
            <a:endParaRPr lang="en-US" sz="2800" dirty="0"/>
          </a:p>
        </p:txBody>
      </p:sp>
      <p:sp>
        <p:nvSpPr>
          <p:cNvPr id="3" name="Screenshot card"/>
          <p:cNvSpPr/>
          <p:nvPr/>
        </p:nvSpPr>
        <p:spPr>
          <a:xfrm>
            <a:off x="1626975" y="1280160"/>
            <a:ext cx="5341410" cy="4160520"/>
          </a:xfrm>
          <a:prstGeom prst="roundRect">
            <a:avLst>
              <a:gd name="adj" fmla="val 175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4" name="Screenshot" descr="Python code loading the CSV and running shape, head, info and describe, with the info outp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4135" y="1417320"/>
            <a:ext cx="5067090" cy="3886200"/>
          </a:xfrm>
          <a:prstGeom prst="rect">
            <a:avLst/>
          </a:prstGeom>
        </p:spPr>
      </p:pic>
      <p:sp>
        <p:nvSpPr>
          <p:cNvPr id="5" name="WHAT and HOW panel"/>
          <p:cNvSpPr/>
          <p:nvPr/>
        </p:nvSpPr>
        <p:spPr>
          <a:xfrm>
            <a:off x="8366760" y="1280160"/>
            <a:ext cx="3364992" cy="4160520"/>
          </a:xfrm>
          <a:prstGeom prst="roundRect">
            <a:avLst>
              <a:gd name="adj" fmla="val 217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0" y="146304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WHAT WAS DONE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173736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Loaded the raw telecom customer file and inspected its size, columns and data types.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345186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HOW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372618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pandas read_csv, then df.shape, head(), info() and describe(include='all').</a:t>
            </a:r>
            <a:endParaRPr lang="en-US" sz="1400" dirty="0"/>
          </a:p>
        </p:txBody>
      </p:sp>
      <p:sp>
        <p:nvSpPr>
          <p:cNvPr id="10" name="Key insight bar"/>
          <p:cNvSpPr/>
          <p:nvPr/>
        </p:nvSpPr>
        <p:spPr>
          <a:xfrm>
            <a:off x="457200" y="5623560"/>
            <a:ext cx="11274552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Info icon"/>
          <p:cNvSpPr/>
          <p:nvPr/>
        </p:nvSpPr>
        <p:spPr>
          <a:xfrm>
            <a:off x="640080" y="5875020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8750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Key insight: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The raw file holds 7,043 customer records across 21 columns.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No Nulls, No Duplicate Customer IDs</a:t>
            </a:r>
            <a:endParaRPr lang="en-US" sz="2800" dirty="0"/>
          </a:p>
        </p:txBody>
      </p:sp>
      <p:sp>
        <p:nvSpPr>
          <p:cNvPr id="3" name="Screenshot card"/>
          <p:cNvSpPr/>
          <p:nvPr/>
        </p:nvSpPr>
        <p:spPr>
          <a:xfrm>
            <a:off x="721450" y="1751076"/>
            <a:ext cx="2862072" cy="3218688"/>
          </a:xfrm>
          <a:prstGeom prst="roundRect">
            <a:avLst>
              <a:gd name="adj" fmla="val 255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4" name="Screenshot" descr="Output of df.isnull().sum() showing zer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610" y="1888236"/>
            <a:ext cx="2587752" cy="2944368"/>
          </a:xfrm>
          <a:prstGeom prst="rect">
            <a:avLst/>
          </a:prstGeom>
        </p:spPr>
      </p:pic>
      <p:sp>
        <p:nvSpPr>
          <p:cNvPr id="5" name="Screenshot card"/>
          <p:cNvSpPr/>
          <p:nvPr/>
        </p:nvSpPr>
        <p:spPr>
          <a:xfrm>
            <a:off x="3766402" y="1450410"/>
            <a:ext cx="4107509" cy="3820019"/>
          </a:xfrm>
          <a:prstGeom prst="roundRect">
            <a:avLst>
              <a:gd name="adj" fmla="val 1915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6" name="Screenshot" descr="Duplicate customerID count of 0 and TotalCharges value counts showing 11 blank entri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3562" y="1587570"/>
            <a:ext cx="3833189" cy="3545699"/>
          </a:xfrm>
          <a:prstGeom prst="rect">
            <a:avLst/>
          </a:prstGeom>
        </p:spPr>
      </p:pic>
      <p:sp>
        <p:nvSpPr>
          <p:cNvPr id="7" name="WHAT and HOW panel"/>
          <p:cNvSpPr/>
          <p:nvPr/>
        </p:nvSpPr>
        <p:spPr>
          <a:xfrm>
            <a:off x="8366760" y="1280160"/>
            <a:ext cx="3364992" cy="4160520"/>
          </a:xfrm>
          <a:prstGeom prst="roundRect">
            <a:avLst>
              <a:gd name="adj" fmla="val 217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595360" y="146304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WHAT WAS DONE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8595360" y="173736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Checked every column for missing values, customerID for duplicates, and the most common TotalCharges values.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345186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HOW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8595360" y="372618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df.isnull().sum(), customerID.duplicated().sum() and TotalCharges.value_counts().</a:t>
            </a:r>
            <a:endParaRPr lang="en-US" sz="1400" dirty="0"/>
          </a:p>
        </p:txBody>
      </p:sp>
      <p:sp>
        <p:nvSpPr>
          <p:cNvPr id="12" name="Key insight bar"/>
          <p:cNvSpPr/>
          <p:nvPr/>
        </p:nvSpPr>
        <p:spPr>
          <a:xfrm>
            <a:off x="457200" y="5623560"/>
            <a:ext cx="11274552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Info icon"/>
          <p:cNvSpPr/>
          <p:nvPr/>
        </p:nvSpPr>
        <p:spPr>
          <a:xfrm>
            <a:off x="640080" y="5875020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40080" y="58750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09728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Key insight: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Zero nulls and zero duplicate IDs, but TotalCharges quietly hides 11 blank entries.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11 Blank TotalCharges Values Found</a:t>
            </a:r>
            <a:endParaRPr lang="en-US" sz="2800" dirty="0"/>
          </a:p>
        </p:txBody>
      </p:sp>
      <p:sp>
        <p:nvSpPr>
          <p:cNvPr id="3" name="Screenshot card"/>
          <p:cNvSpPr/>
          <p:nvPr/>
        </p:nvSpPr>
        <p:spPr>
          <a:xfrm>
            <a:off x="457200" y="2069767"/>
            <a:ext cx="7680960" cy="2581306"/>
          </a:xfrm>
          <a:prstGeom prst="roundRect">
            <a:avLst>
              <a:gd name="adj" fmla="val 283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4" name="Screenshot" descr="Code and output listing the 11 customers with blank TotalCharges, all with tenure 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206927"/>
            <a:ext cx="7406640" cy="2306986"/>
          </a:xfrm>
          <a:prstGeom prst="rect">
            <a:avLst/>
          </a:prstGeom>
        </p:spPr>
      </p:pic>
      <p:sp>
        <p:nvSpPr>
          <p:cNvPr id="5" name="WHAT and HOW panel"/>
          <p:cNvSpPr/>
          <p:nvPr/>
        </p:nvSpPr>
        <p:spPr>
          <a:xfrm>
            <a:off x="8366760" y="1280160"/>
            <a:ext cx="3364992" cy="4160520"/>
          </a:xfrm>
          <a:prstGeom prst="roundRect">
            <a:avLst>
              <a:gd name="adj" fmla="val 217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0" y="146304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WHAT WAS DONE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173736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Isolated the blank TotalCharges entries that isnull() could not see.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345186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HOW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372618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Filtered rows where TotalCharges.str.strip() equals an empty string and listed their key columns.</a:t>
            </a:r>
            <a:endParaRPr lang="en-US" sz="1400" dirty="0"/>
          </a:p>
        </p:txBody>
      </p:sp>
      <p:sp>
        <p:nvSpPr>
          <p:cNvPr id="10" name="Key insight bar"/>
          <p:cNvSpPr/>
          <p:nvPr/>
        </p:nvSpPr>
        <p:spPr>
          <a:xfrm>
            <a:off x="457200" y="5623560"/>
            <a:ext cx="11274552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Info icon"/>
          <p:cNvSpPr/>
          <p:nvPr/>
        </p:nvSpPr>
        <p:spPr>
          <a:xfrm>
            <a:off x="640080" y="5875020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8750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Key insight: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All 11 blank values belong to customers with tenure 0: brand-new customers who have not been billed yet.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Fixing the TotalCharges Column</a:t>
            </a:r>
            <a:endParaRPr lang="en-US" sz="2800" dirty="0"/>
          </a:p>
        </p:txBody>
      </p:sp>
      <p:sp>
        <p:nvSpPr>
          <p:cNvPr id="3" name="Screenshot card"/>
          <p:cNvSpPr/>
          <p:nvPr/>
        </p:nvSpPr>
        <p:spPr>
          <a:xfrm>
            <a:off x="841248" y="1984248"/>
            <a:ext cx="6912864" cy="2752344"/>
          </a:xfrm>
          <a:prstGeom prst="roundRect">
            <a:avLst>
              <a:gd name="adj" fmla="val 265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4" name="Screenshot" descr="Code converting blank TotalCharges to NaN, then to numeric, then filling with 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121408"/>
            <a:ext cx="6638544" cy="2478024"/>
          </a:xfrm>
          <a:prstGeom prst="rect">
            <a:avLst/>
          </a:prstGeom>
        </p:spPr>
      </p:pic>
      <p:sp>
        <p:nvSpPr>
          <p:cNvPr id="5" name="WHAT and HOW panel"/>
          <p:cNvSpPr/>
          <p:nvPr/>
        </p:nvSpPr>
        <p:spPr>
          <a:xfrm>
            <a:off x="8366760" y="1280160"/>
            <a:ext cx="3364992" cy="4160520"/>
          </a:xfrm>
          <a:prstGeom prst="roundRect">
            <a:avLst>
              <a:gd name="adj" fmla="val 217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0" y="146304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WHAT WAS DONE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173736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Converted TotalCharges from text to a numeric column and filled the blanks with 0.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345186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HOW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372618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Replaced blanks with NaN, pd.to_numeric(), then fillna(0).</a:t>
            </a:r>
            <a:endParaRPr lang="en-US" sz="1400" dirty="0"/>
          </a:p>
        </p:txBody>
      </p:sp>
      <p:sp>
        <p:nvSpPr>
          <p:cNvPr id="10" name="Key insight bar"/>
          <p:cNvSpPr/>
          <p:nvPr/>
        </p:nvSpPr>
        <p:spPr>
          <a:xfrm>
            <a:off x="457200" y="5623560"/>
            <a:ext cx="11274552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Info icon"/>
          <p:cNvSpPr/>
          <p:nvPr/>
        </p:nvSpPr>
        <p:spPr>
          <a:xfrm>
            <a:off x="640080" y="5875020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8750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Key insight: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 new customer has paid nothing yet, so 0 is a sensible fill, and the column is now a clean float64.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Distributions of the Numeric Features</a:t>
            </a:r>
            <a:endParaRPr lang="en-US" sz="2800" dirty="0"/>
          </a:p>
        </p:txBody>
      </p:sp>
      <p:sp>
        <p:nvSpPr>
          <p:cNvPr id="3" name="Screenshot card"/>
          <p:cNvSpPr/>
          <p:nvPr/>
        </p:nvSpPr>
        <p:spPr>
          <a:xfrm>
            <a:off x="457200" y="1422751"/>
            <a:ext cx="7680960" cy="3875338"/>
          </a:xfrm>
          <a:prstGeom prst="roundRect">
            <a:avLst>
              <a:gd name="adj" fmla="val 188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4" name="Screenshot" descr="Histograms of tenure, MonthlyCharges and TotalChar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59911"/>
            <a:ext cx="7406640" cy="3601018"/>
          </a:xfrm>
          <a:prstGeom prst="rect">
            <a:avLst/>
          </a:prstGeom>
        </p:spPr>
      </p:pic>
      <p:sp>
        <p:nvSpPr>
          <p:cNvPr id="5" name="WHAT and HOW panel"/>
          <p:cNvSpPr/>
          <p:nvPr/>
        </p:nvSpPr>
        <p:spPr>
          <a:xfrm>
            <a:off x="8366760" y="1280160"/>
            <a:ext cx="3364992" cy="4160520"/>
          </a:xfrm>
          <a:prstGeom prst="roundRect">
            <a:avLst>
              <a:gd name="adj" fmla="val 217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0" y="146304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WHAT WAS DONE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173736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Plotted tenure, MonthlyCharges and TotalCharges to see how customers are spread.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345186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HOW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372618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df[[...]].hist() with 30 bins.</a:t>
            </a:r>
            <a:endParaRPr lang="en-US" sz="1400" dirty="0"/>
          </a:p>
        </p:txBody>
      </p:sp>
      <p:sp>
        <p:nvSpPr>
          <p:cNvPr id="10" name="Key insight bar"/>
          <p:cNvSpPr/>
          <p:nvPr/>
        </p:nvSpPr>
        <p:spPr>
          <a:xfrm>
            <a:off x="457200" y="5623560"/>
            <a:ext cx="11274552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Info icon"/>
          <p:cNvSpPr/>
          <p:nvPr/>
        </p:nvSpPr>
        <p:spPr>
          <a:xfrm>
            <a:off x="640080" y="5875020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8750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Key insight: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Tenure peaks at both ends, with many brand-new and many long-term customers, and TotalCharges is right-skewed.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Churn Rate by Key Factors</a:t>
            </a:r>
            <a:endParaRPr lang="en-US" sz="2800" dirty="0"/>
          </a:p>
        </p:txBody>
      </p:sp>
      <p:sp>
        <p:nvSpPr>
          <p:cNvPr id="3" name="Screenshot card"/>
          <p:cNvSpPr/>
          <p:nvPr/>
        </p:nvSpPr>
        <p:spPr>
          <a:xfrm>
            <a:off x="689294" y="1280160"/>
            <a:ext cx="7216772" cy="4160520"/>
          </a:xfrm>
          <a:prstGeom prst="roundRect">
            <a:avLst>
              <a:gd name="adj" fmla="val 175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4" name="Screenshot" descr="Six bar charts of churn rate by contract, internet service, payment method, tech support, online security and depend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454" y="1417320"/>
            <a:ext cx="6942452" cy="3886200"/>
          </a:xfrm>
          <a:prstGeom prst="rect">
            <a:avLst/>
          </a:prstGeom>
        </p:spPr>
      </p:pic>
      <p:sp>
        <p:nvSpPr>
          <p:cNvPr id="5" name="WHAT and HOW panel"/>
          <p:cNvSpPr/>
          <p:nvPr/>
        </p:nvSpPr>
        <p:spPr>
          <a:xfrm>
            <a:off x="8366760" y="1280160"/>
            <a:ext cx="3364992" cy="4160520"/>
          </a:xfrm>
          <a:prstGeom prst="roundRect">
            <a:avLst>
              <a:gd name="adj" fmla="val 217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0" y="146304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WHAT WAS DONE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173736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Compared churn rates across contract, internet service, payment method, tech support, online security and dependents.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345186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HOW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372618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2×3 grid of bar charts showing churn rate (%) for each category.</a:t>
            </a:r>
            <a:endParaRPr lang="en-US" sz="1400" dirty="0"/>
          </a:p>
        </p:txBody>
      </p:sp>
      <p:sp>
        <p:nvSpPr>
          <p:cNvPr id="10" name="Key insight bar"/>
          <p:cNvSpPr/>
          <p:nvPr/>
        </p:nvSpPr>
        <p:spPr>
          <a:xfrm>
            <a:off x="457200" y="5623560"/>
            <a:ext cx="11274552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Info icon"/>
          <p:cNvSpPr/>
          <p:nvPr/>
        </p:nvSpPr>
        <p:spPr>
          <a:xfrm>
            <a:off x="640080" y="5875020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8750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Key insight: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Month-to-month contracts, fiber optic and electronic check show the highest churn, and customers with tech support or security churn far less.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Feature Engineering: Customer Type &amp; Spend</a:t>
            </a:r>
            <a:endParaRPr lang="en-US" sz="2800" dirty="0"/>
          </a:p>
        </p:txBody>
      </p:sp>
      <p:sp>
        <p:nvSpPr>
          <p:cNvPr id="3" name="Screenshot card"/>
          <p:cNvSpPr/>
          <p:nvPr/>
        </p:nvSpPr>
        <p:spPr>
          <a:xfrm>
            <a:off x="457200" y="1308795"/>
            <a:ext cx="7680960" cy="4103250"/>
          </a:xfrm>
          <a:prstGeom prst="roundRect">
            <a:avLst>
              <a:gd name="adj" fmla="val 178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4" name="Screenshot" descr="Code creating the CustomerType and AvgMonthlySpend colum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45955"/>
            <a:ext cx="7406640" cy="3828930"/>
          </a:xfrm>
          <a:prstGeom prst="rect">
            <a:avLst/>
          </a:prstGeom>
        </p:spPr>
      </p:pic>
      <p:sp>
        <p:nvSpPr>
          <p:cNvPr id="5" name="WHAT and HOW panel"/>
          <p:cNvSpPr/>
          <p:nvPr/>
        </p:nvSpPr>
        <p:spPr>
          <a:xfrm>
            <a:off x="8366760" y="1280160"/>
            <a:ext cx="3364992" cy="4160520"/>
          </a:xfrm>
          <a:prstGeom prst="roundRect">
            <a:avLst>
              <a:gd name="adj" fmla="val 217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0" y="146304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WHAT WAS DONE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173736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Created CustomerType (new or old) and AvgMonthlySpend.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345186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HOW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372618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Tenure of 12 months or less is a New Customer. AvgMonthlySpend is TotalCharges divided by tenure, with tenure 0 treated as 1.</a:t>
            </a:r>
            <a:endParaRPr lang="en-US" sz="1400" dirty="0"/>
          </a:p>
        </p:txBody>
      </p:sp>
      <p:sp>
        <p:nvSpPr>
          <p:cNvPr id="10" name="Key insight bar"/>
          <p:cNvSpPr/>
          <p:nvPr/>
        </p:nvSpPr>
        <p:spPr>
          <a:xfrm>
            <a:off x="457200" y="5623560"/>
            <a:ext cx="11274552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Info icon"/>
          <p:cNvSpPr/>
          <p:nvPr/>
        </p:nvSpPr>
        <p:spPr>
          <a:xfrm>
            <a:off x="640080" y="5875020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8750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Key insight: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Two new columns describe how long a customer has been with the company and what they typically spend.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Feature Engineering: Services &amp; Segments</a:t>
            </a:r>
            <a:endParaRPr lang="en-US" sz="2800" dirty="0"/>
          </a:p>
        </p:txBody>
      </p:sp>
      <p:sp>
        <p:nvSpPr>
          <p:cNvPr id="3" name="Screenshot card"/>
          <p:cNvSpPr/>
          <p:nvPr/>
        </p:nvSpPr>
        <p:spPr>
          <a:xfrm>
            <a:off x="457200" y="1335077"/>
            <a:ext cx="3447395" cy="4050685"/>
          </a:xfrm>
          <a:prstGeom prst="roundRect">
            <a:avLst>
              <a:gd name="adj" fmla="val 2122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4" name="Screenshot" descr="Code counting the six add-on services into TotalServi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72237"/>
            <a:ext cx="3173075" cy="3776365"/>
          </a:xfrm>
          <a:prstGeom prst="rect">
            <a:avLst/>
          </a:prstGeom>
        </p:spPr>
      </p:pic>
      <p:sp>
        <p:nvSpPr>
          <p:cNvPr id="5" name="Screenshot card"/>
          <p:cNvSpPr/>
          <p:nvPr/>
        </p:nvSpPr>
        <p:spPr>
          <a:xfrm>
            <a:off x="4087475" y="1335077"/>
            <a:ext cx="4050685" cy="4050685"/>
          </a:xfrm>
          <a:prstGeom prst="roundRect">
            <a:avLst>
              <a:gd name="adj" fmla="val 180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6" name="Screenshot" descr="Code creating SpendingSegment and ServiceSegme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635" y="1472237"/>
            <a:ext cx="3776365" cy="3776365"/>
          </a:xfrm>
          <a:prstGeom prst="rect">
            <a:avLst/>
          </a:prstGeom>
        </p:spPr>
      </p:pic>
      <p:sp>
        <p:nvSpPr>
          <p:cNvPr id="7" name="WHAT and HOW panel"/>
          <p:cNvSpPr/>
          <p:nvPr/>
        </p:nvSpPr>
        <p:spPr>
          <a:xfrm>
            <a:off x="8366760" y="1280160"/>
            <a:ext cx="3364992" cy="4160520"/>
          </a:xfrm>
          <a:prstGeom prst="roundRect">
            <a:avLst>
              <a:gd name="adj" fmla="val 217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595360" y="146304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WHAT WAS DONE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8595360" y="173736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Counted each customer's add-on services, then segmented customers by spending and service level.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345186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HOW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8595360" y="372618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TotalServices counts 6 add-ons. Spend: under 50, 50 to 80, 80+. Services: 0 to 1, 2 to 3, 4+.</a:t>
            </a:r>
            <a:endParaRPr lang="en-US" sz="1400" dirty="0"/>
          </a:p>
        </p:txBody>
      </p:sp>
      <p:sp>
        <p:nvSpPr>
          <p:cNvPr id="12" name="Key insight bar"/>
          <p:cNvSpPr/>
          <p:nvPr/>
        </p:nvSpPr>
        <p:spPr>
          <a:xfrm>
            <a:off x="457200" y="5623560"/>
            <a:ext cx="11274552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Info icon"/>
          <p:cNvSpPr/>
          <p:nvPr/>
        </p:nvSpPr>
        <p:spPr>
          <a:xfrm>
            <a:off x="640080" y="5875020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40080" y="58750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09728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Key insight: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Customers now fall into spending segments (low, medium, high) and service segments (basic, multi-service, highly engaged).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Saving the Final Dataset</a:t>
            </a:r>
            <a:endParaRPr lang="en-US" sz="2800" dirty="0"/>
          </a:p>
        </p:txBody>
      </p:sp>
      <p:sp>
        <p:nvSpPr>
          <p:cNvPr id="3" name="Screenshot card"/>
          <p:cNvSpPr/>
          <p:nvPr/>
        </p:nvSpPr>
        <p:spPr>
          <a:xfrm>
            <a:off x="1869948" y="2834640"/>
            <a:ext cx="4855464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4" name="Screenshot" descr="Code saving the final dataframe to Mini V2 py.csv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7108" y="2971800"/>
            <a:ext cx="4581144" cy="777240"/>
          </a:xfrm>
          <a:prstGeom prst="rect">
            <a:avLst/>
          </a:prstGeom>
        </p:spPr>
      </p:pic>
      <p:sp>
        <p:nvSpPr>
          <p:cNvPr id="5" name="WHAT and HOW panel"/>
          <p:cNvSpPr/>
          <p:nvPr/>
        </p:nvSpPr>
        <p:spPr>
          <a:xfrm>
            <a:off x="8366760" y="1280160"/>
            <a:ext cx="3364992" cy="4160520"/>
          </a:xfrm>
          <a:prstGeom prst="roundRect">
            <a:avLst>
              <a:gd name="adj" fmla="val 217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0" y="146304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WHAT WAS DONE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173736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Exported the cleaned, enriched dataset for SQL and Power BI.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345186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HOW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372618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df.to_csv('Mini V2 py.csv', index=False).</a:t>
            </a:r>
            <a:endParaRPr lang="en-US" sz="1400" dirty="0"/>
          </a:p>
        </p:txBody>
      </p:sp>
      <p:sp>
        <p:nvSpPr>
          <p:cNvPr id="10" name="Key insight bar"/>
          <p:cNvSpPr/>
          <p:nvPr/>
        </p:nvSpPr>
        <p:spPr>
          <a:xfrm>
            <a:off x="457200" y="5623560"/>
            <a:ext cx="11274552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Info icon"/>
          <p:cNvSpPr/>
          <p:nvPr/>
        </p:nvSpPr>
        <p:spPr>
          <a:xfrm>
            <a:off x="640080" y="5875020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8750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Key insight: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The output is 7,043 rows × 26 columns (21 original plus 5 engineered), ready to load into the database.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822960" y="306324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Database &amp; Advanced SQL</a:t>
            </a:r>
            <a:endParaRPr lang="en-US" sz="40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822960" y="40690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Building a star schema in SQL Server, analyzing churn with SQL queries, then going deeper with CTEs, ranking, window functions and views.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8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8C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Dimension Table: DimCustomer</a:t>
            </a:r>
            <a:endParaRPr lang="en-US" sz="2800" dirty="0"/>
          </a:p>
        </p:txBody>
      </p:sp>
      <p:sp>
        <p:nvSpPr>
          <p:cNvPr id="3" name="Screenshot card"/>
          <p:cNvSpPr/>
          <p:nvPr/>
        </p:nvSpPr>
        <p:spPr>
          <a:xfrm>
            <a:off x="2036667" y="1280160"/>
            <a:ext cx="4522027" cy="4160520"/>
          </a:xfrm>
          <a:prstGeom prst="roundRect">
            <a:avLst>
              <a:gd name="adj" fmla="val 175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4" name="Screenshot" descr="SQL code creating the DimCustomer table, inserting distinct customers from data_after_py and counting th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3827" y="1417320"/>
            <a:ext cx="4247707" cy="3886200"/>
          </a:xfrm>
          <a:prstGeom prst="rect">
            <a:avLst/>
          </a:prstGeom>
        </p:spPr>
      </p:pic>
      <p:sp>
        <p:nvSpPr>
          <p:cNvPr id="5" name="WHAT and HOW panel"/>
          <p:cNvSpPr/>
          <p:nvPr/>
        </p:nvSpPr>
        <p:spPr>
          <a:xfrm>
            <a:off x="8366760" y="1280160"/>
            <a:ext cx="3364992" cy="4160520"/>
          </a:xfrm>
          <a:prstGeom prst="roundRect">
            <a:avLst>
              <a:gd name="adj" fmla="val 217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0" y="146304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WHAT WAS DONE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173736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Created the customer dimension: one row per customer, with a surrogate key.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345186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HOW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372618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CREATE TABLE with an identity primary key and a unique customerID, INSERT DISTINCT from data_after_py, then COUNT(*) to check the rows.</a:t>
            </a:r>
            <a:endParaRPr lang="en-US" sz="1400" dirty="0"/>
          </a:p>
        </p:txBody>
      </p:sp>
      <p:sp>
        <p:nvSpPr>
          <p:cNvPr id="10" name="Key insight bar"/>
          <p:cNvSpPr/>
          <p:nvPr/>
        </p:nvSpPr>
        <p:spPr>
          <a:xfrm>
            <a:off x="457200" y="5623560"/>
            <a:ext cx="11274552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Info icon"/>
          <p:cNvSpPr/>
          <p:nvPr/>
        </p:nvSpPr>
        <p:spPr>
          <a:xfrm>
            <a:off x="640080" y="5875020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8750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Key insight: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Every customer gets a unique CustomerKey. DimContract, DimInternetService and DimPaymentMethod are built the same way.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Fact Table: FactCustomerChurn</a:t>
            </a:r>
            <a:endParaRPr lang="en-US" sz="2800" dirty="0"/>
          </a:p>
        </p:txBody>
      </p:sp>
      <p:sp>
        <p:nvSpPr>
          <p:cNvPr id="3" name="Screenshot card"/>
          <p:cNvSpPr/>
          <p:nvPr/>
        </p:nvSpPr>
        <p:spPr>
          <a:xfrm>
            <a:off x="1419470" y="1280160"/>
            <a:ext cx="5756420" cy="4160520"/>
          </a:xfrm>
          <a:prstGeom prst="roundRect">
            <a:avLst>
              <a:gd name="adj" fmla="val 175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4" name="Screenshot" descr="SQL code creating the FactCustomerChurn table with key columns, measures, service columns and the first foreign 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6630" y="1417320"/>
            <a:ext cx="5482100" cy="3886200"/>
          </a:xfrm>
          <a:prstGeom prst="rect">
            <a:avLst/>
          </a:prstGeom>
        </p:spPr>
      </p:pic>
      <p:sp>
        <p:nvSpPr>
          <p:cNvPr id="5" name="WHAT and HOW panel"/>
          <p:cNvSpPr/>
          <p:nvPr/>
        </p:nvSpPr>
        <p:spPr>
          <a:xfrm>
            <a:off x="8366760" y="1280160"/>
            <a:ext cx="3364992" cy="4160520"/>
          </a:xfrm>
          <a:prstGeom prst="roundRect">
            <a:avLst>
              <a:gd name="adj" fmla="val 217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0" y="146304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WHAT WAS DONE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173736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Defined the fact table that holds the measures and the keys to the four dimensions.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345186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HOW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372618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 identity primary key, four key columns, tenure, charges, churn and service columns, then FOREIGN KEY constraints to the dimensions.</a:t>
            </a:r>
            <a:endParaRPr lang="en-US" sz="1400" dirty="0"/>
          </a:p>
        </p:txBody>
      </p:sp>
      <p:sp>
        <p:nvSpPr>
          <p:cNvPr id="10" name="Key insight bar"/>
          <p:cNvSpPr/>
          <p:nvPr/>
        </p:nvSpPr>
        <p:spPr>
          <a:xfrm>
            <a:off x="457200" y="5623560"/>
            <a:ext cx="11274552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Info icon"/>
          <p:cNvSpPr/>
          <p:nvPr/>
        </p:nvSpPr>
        <p:spPr>
          <a:xfrm>
            <a:off x="640080" y="5875020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8750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Key insight: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One central fact table: the numbers (tenure, charges, churn, services) plus a key to each dimension.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Loading the Fact Table (1 of 2)</a:t>
            </a:r>
            <a:endParaRPr lang="en-US" sz="2800" dirty="0"/>
          </a:p>
        </p:txBody>
      </p:sp>
      <p:sp>
        <p:nvSpPr>
          <p:cNvPr id="3" name="Screenshot card"/>
          <p:cNvSpPr/>
          <p:nvPr/>
        </p:nvSpPr>
        <p:spPr>
          <a:xfrm>
            <a:off x="1786267" y="1280160"/>
            <a:ext cx="5022825" cy="4160520"/>
          </a:xfrm>
          <a:prstGeom prst="roundRect">
            <a:avLst>
              <a:gd name="adj" fmla="val 175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4" name="Screenshot" descr="SQL insert into FactCustomerChurn with its column list and the start of the sele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3427" y="1417320"/>
            <a:ext cx="4748505" cy="3886200"/>
          </a:xfrm>
          <a:prstGeom prst="rect">
            <a:avLst/>
          </a:prstGeom>
        </p:spPr>
      </p:pic>
      <p:sp>
        <p:nvSpPr>
          <p:cNvPr id="5" name="WHAT and HOW panel"/>
          <p:cNvSpPr/>
          <p:nvPr/>
        </p:nvSpPr>
        <p:spPr>
          <a:xfrm>
            <a:off x="8366760" y="1280160"/>
            <a:ext cx="3364992" cy="4160520"/>
          </a:xfrm>
          <a:prstGeom prst="roundRect">
            <a:avLst>
              <a:gd name="adj" fmla="val 217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0" y="146304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WHAT WAS DONE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173736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Started filling the fact table from the Python output.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345186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HOW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372618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INSERT INTO FactCustomerChurn with its column list, then a SELECT of the dimension keys and the values from data_after_py.</a:t>
            </a:r>
            <a:endParaRPr lang="en-US" sz="1400" dirty="0"/>
          </a:p>
        </p:txBody>
      </p:sp>
      <p:sp>
        <p:nvSpPr>
          <p:cNvPr id="10" name="Key insight bar"/>
          <p:cNvSpPr/>
          <p:nvPr/>
        </p:nvSpPr>
        <p:spPr>
          <a:xfrm>
            <a:off x="457200" y="5623560"/>
            <a:ext cx="11274552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Info icon"/>
          <p:cNvSpPr/>
          <p:nvPr/>
        </p:nvSpPr>
        <p:spPr>
          <a:xfrm>
            <a:off x="640080" y="5875020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8750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Key insight: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The column list maps every fact column to a value from the source table or to a dimension key.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Loading the Fact Table (2 of 2)</a:t>
            </a:r>
            <a:endParaRPr lang="en-US" sz="2800" dirty="0"/>
          </a:p>
        </p:txBody>
      </p:sp>
      <p:sp>
        <p:nvSpPr>
          <p:cNvPr id="3" name="Screenshot card"/>
          <p:cNvSpPr/>
          <p:nvPr/>
        </p:nvSpPr>
        <p:spPr>
          <a:xfrm>
            <a:off x="1625011" y="1280160"/>
            <a:ext cx="5345337" cy="4160520"/>
          </a:xfrm>
          <a:prstGeom prst="roundRect">
            <a:avLst>
              <a:gd name="adj" fmla="val 175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4" name="Screenshot" descr="SQL select finishing with inner joins from data_after_py to the four dimension tables, then a count of fact recor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2171" y="1417320"/>
            <a:ext cx="5071017" cy="3886200"/>
          </a:xfrm>
          <a:prstGeom prst="rect">
            <a:avLst/>
          </a:prstGeom>
        </p:spPr>
      </p:pic>
      <p:sp>
        <p:nvSpPr>
          <p:cNvPr id="5" name="WHAT and HOW panel"/>
          <p:cNvSpPr/>
          <p:nvPr/>
        </p:nvSpPr>
        <p:spPr>
          <a:xfrm>
            <a:off x="8366760" y="1280160"/>
            <a:ext cx="3364992" cy="4160520"/>
          </a:xfrm>
          <a:prstGeom prst="roundRect">
            <a:avLst>
              <a:gd name="adj" fmla="val 217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0" y="146304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WHAT WAS DONE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173736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Joined the source table to the four dimensions to look up each key, then counted the inserted rows.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345186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HOW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372618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INNER JOINs from data_after_py to DimCustomer, DimContract, DimInternetService and DimPaymentMethod, then SELECT COUNT(*) on the fact table.</a:t>
            </a:r>
            <a:endParaRPr lang="en-US" sz="1400" dirty="0"/>
          </a:p>
        </p:txBody>
      </p:sp>
      <p:sp>
        <p:nvSpPr>
          <p:cNvPr id="10" name="Key insight bar"/>
          <p:cNvSpPr/>
          <p:nvPr/>
        </p:nvSpPr>
        <p:spPr>
          <a:xfrm>
            <a:off x="457200" y="5623560"/>
            <a:ext cx="11274552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Info icon"/>
          <p:cNvSpPr/>
          <p:nvPr/>
        </p:nvSpPr>
        <p:spPr>
          <a:xfrm>
            <a:off x="640080" y="5875020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8750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Key insight: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The joins attach the correct key from every dimension to each fact row.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Overall Churn Rate and Churn by Contract</a:t>
            </a:r>
            <a:endParaRPr lang="en-US" sz="2800" dirty="0"/>
          </a:p>
        </p:txBody>
      </p:sp>
      <p:sp>
        <p:nvSpPr>
          <p:cNvPr id="3" name="Screenshot card"/>
          <p:cNvSpPr/>
          <p:nvPr/>
        </p:nvSpPr>
        <p:spPr>
          <a:xfrm>
            <a:off x="1683068" y="1280160"/>
            <a:ext cx="5229225" cy="4160520"/>
          </a:xfrm>
          <a:prstGeom prst="roundRect">
            <a:avLst>
              <a:gd name="adj" fmla="val 175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4" name="Screenshot" descr="SQL queries and results: overall churn rate 26.54 percent and churn by contra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0228" y="1417320"/>
            <a:ext cx="4954905" cy="3886200"/>
          </a:xfrm>
          <a:prstGeom prst="rect">
            <a:avLst/>
          </a:prstGeom>
        </p:spPr>
      </p:pic>
      <p:sp>
        <p:nvSpPr>
          <p:cNvPr id="5" name="WHAT and HOW panel"/>
          <p:cNvSpPr/>
          <p:nvPr/>
        </p:nvSpPr>
        <p:spPr>
          <a:xfrm>
            <a:off x="8366760" y="1280160"/>
            <a:ext cx="3364992" cy="4160520"/>
          </a:xfrm>
          <a:prstGeom prst="roundRect">
            <a:avLst>
              <a:gd name="adj" fmla="val 217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0" y="146304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WHAT WAS DONE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173736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Calculated the overall churn rate, then the churn rate for each contract type.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345186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HOW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372618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SUM(CASE WHEN churn = 1 ...) × 100.0 ÷ COUNT(*) on data_after_py, then the same grouped by contract.</a:t>
            </a:r>
            <a:endParaRPr lang="en-US" sz="1400" dirty="0"/>
          </a:p>
        </p:txBody>
      </p:sp>
      <p:sp>
        <p:nvSpPr>
          <p:cNvPr id="10" name="Key insight bar"/>
          <p:cNvSpPr/>
          <p:nvPr/>
        </p:nvSpPr>
        <p:spPr>
          <a:xfrm>
            <a:off x="457200" y="5623560"/>
            <a:ext cx="11274552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Info icon"/>
          <p:cNvSpPr/>
          <p:nvPr/>
        </p:nvSpPr>
        <p:spPr>
          <a:xfrm>
            <a:off x="640080" y="5875020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8750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Key insight: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Overall churn is 26.54%, but month-to-month contracts churn at 42.71% versus 11.27% and 2.83% for longer contracts.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Churn by Internet Service</a:t>
            </a:r>
            <a:endParaRPr lang="en-US" sz="2800" dirty="0"/>
          </a:p>
        </p:txBody>
      </p:sp>
      <p:sp>
        <p:nvSpPr>
          <p:cNvPr id="3" name="Screenshot card"/>
          <p:cNvSpPr/>
          <p:nvPr/>
        </p:nvSpPr>
        <p:spPr>
          <a:xfrm>
            <a:off x="457200" y="1281495"/>
            <a:ext cx="7680960" cy="4157850"/>
          </a:xfrm>
          <a:prstGeom prst="roundRect">
            <a:avLst>
              <a:gd name="adj" fmla="val 175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4" name="Screenshot" descr="SQL query and result of churn by internet service: Fiber optic 41.89, DSL 18.96, No 7.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18655"/>
            <a:ext cx="7406640" cy="3883530"/>
          </a:xfrm>
          <a:prstGeom prst="rect">
            <a:avLst/>
          </a:prstGeom>
        </p:spPr>
      </p:pic>
      <p:sp>
        <p:nvSpPr>
          <p:cNvPr id="5" name="WHAT and HOW panel"/>
          <p:cNvSpPr/>
          <p:nvPr/>
        </p:nvSpPr>
        <p:spPr>
          <a:xfrm>
            <a:off x="8366760" y="1280160"/>
            <a:ext cx="3364992" cy="4160520"/>
          </a:xfrm>
          <a:prstGeom prst="roundRect">
            <a:avLst>
              <a:gd name="adj" fmla="val 217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0" y="146304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WHAT WAS DONE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173736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Compared churn across the internet service types.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345186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HOW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372618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COUNT, SUM(CASE WHEN churn = 1 ...) and the churn rate, grouped by InternetService.</a:t>
            </a:r>
            <a:endParaRPr lang="en-US" sz="1400" dirty="0"/>
          </a:p>
        </p:txBody>
      </p:sp>
      <p:sp>
        <p:nvSpPr>
          <p:cNvPr id="10" name="Key insight bar"/>
          <p:cNvSpPr/>
          <p:nvPr/>
        </p:nvSpPr>
        <p:spPr>
          <a:xfrm>
            <a:off x="457200" y="5623560"/>
            <a:ext cx="11274552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Info icon"/>
          <p:cNvSpPr/>
          <p:nvPr/>
        </p:nvSpPr>
        <p:spPr>
          <a:xfrm>
            <a:off x="640080" y="5875020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8750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Key insight: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Fiber optic customers churn at 41.89%, more than twice the DSL rate (18.96%) and over five times the rate with no internet (7.40%).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Customer Lifetime Revenue: Churned vs Retained</a:t>
            </a:r>
            <a:endParaRPr lang="en-US" sz="2800" dirty="0"/>
          </a:p>
        </p:txBody>
      </p:sp>
      <p:sp>
        <p:nvSpPr>
          <p:cNvPr id="3" name="Screenshot card"/>
          <p:cNvSpPr/>
          <p:nvPr/>
        </p:nvSpPr>
        <p:spPr>
          <a:xfrm>
            <a:off x="676656" y="1517904"/>
            <a:ext cx="7242048" cy="3685032"/>
          </a:xfrm>
          <a:prstGeom prst="roundRect">
            <a:avLst>
              <a:gd name="adj" fmla="val 1985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4" name="Screenshot" descr="SQL query and result of average customer lifetime revenue by churn: retained 2549.77, churned 1531.6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655064"/>
            <a:ext cx="6967728" cy="3410712"/>
          </a:xfrm>
          <a:prstGeom prst="rect">
            <a:avLst/>
          </a:prstGeom>
        </p:spPr>
      </p:pic>
      <p:sp>
        <p:nvSpPr>
          <p:cNvPr id="5" name="WHAT and HOW panel"/>
          <p:cNvSpPr/>
          <p:nvPr/>
        </p:nvSpPr>
        <p:spPr>
          <a:xfrm>
            <a:off x="8366760" y="1280160"/>
            <a:ext cx="3364992" cy="4160520"/>
          </a:xfrm>
          <a:prstGeom prst="roundRect">
            <a:avLst>
              <a:gd name="adj" fmla="val 217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0" y="146304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WHAT WAS DONE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173736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Estimated how much revenue each group generated over its lifetime.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345186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HOW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372618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AVG(MonthlyCharges × tenure), grouped by churn. A simplified measure.</a:t>
            </a:r>
            <a:endParaRPr lang="en-US" sz="1400" dirty="0"/>
          </a:p>
        </p:txBody>
      </p:sp>
      <p:sp>
        <p:nvSpPr>
          <p:cNvPr id="10" name="Key insight bar"/>
          <p:cNvSpPr/>
          <p:nvPr/>
        </p:nvSpPr>
        <p:spPr>
          <a:xfrm>
            <a:off x="457200" y="5623560"/>
            <a:ext cx="11274552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Info icon"/>
          <p:cNvSpPr/>
          <p:nvPr/>
        </p:nvSpPr>
        <p:spPr>
          <a:xfrm>
            <a:off x="640080" y="5875020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8750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Key insight: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Churned customers generated about $1,532 on average versus $2,550 for retained customers, about 40% less.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Revenue Analysis by Contract</a:t>
            </a:r>
            <a:endParaRPr lang="en-US" sz="2800" dirty="0"/>
          </a:p>
        </p:txBody>
      </p:sp>
      <p:sp>
        <p:nvSpPr>
          <p:cNvPr id="3" name="Screenshot card"/>
          <p:cNvSpPr/>
          <p:nvPr/>
        </p:nvSpPr>
        <p:spPr>
          <a:xfrm>
            <a:off x="630772" y="1280160"/>
            <a:ext cx="7333815" cy="4160520"/>
          </a:xfrm>
          <a:prstGeom prst="roundRect">
            <a:avLst>
              <a:gd name="adj" fmla="val 175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4" name="Screenshot" descr="SQL query and result of customers, average and total monthly charges and churn rate by contra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932" y="1417320"/>
            <a:ext cx="7059495" cy="3886200"/>
          </a:xfrm>
          <a:prstGeom prst="rect">
            <a:avLst/>
          </a:prstGeom>
        </p:spPr>
      </p:pic>
      <p:sp>
        <p:nvSpPr>
          <p:cNvPr id="5" name="WHAT and HOW panel"/>
          <p:cNvSpPr/>
          <p:nvPr/>
        </p:nvSpPr>
        <p:spPr>
          <a:xfrm>
            <a:off x="8366760" y="1280160"/>
            <a:ext cx="3364992" cy="4160520"/>
          </a:xfrm>
          <a:prstGeom prst="roundRect">
            <a:avLst>
              <a:gd name="adj" fmla="val 217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0" y="146304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WHAT WAS DONE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173736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Compared customers, average and total monthly charges, and the churn rate for each contract.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345186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HOW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372618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COUNT, AVG and SUM of MonthlyCharges plus the churn rate, grouped by contract and ordered by churn rate.</a:t>
            </a:r>
            <a:endParaRPr lang="en-US" sz="1400" dirty="0"/>
          </a:p>
        </p:txBody>
      </p:sp>
      <p:sp>
        <p:nvSpPr>
          <p:cNvPr id="10" name="Key insight bar"/>
          <p:cNvSpPr/>
          <p:nvPr/>
        </p:nvSpPr>
        <p:spPr>
          <a:xfrm>
            <a:off x="457200" y="5623560"/>
            <a:ext cx="11274552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Info icon"/>
          <p:cNvSpPr/>
          <p:nvPr/>
        </p:nvSpPr>
        <p:spPr>
          <a:xfrm>
            <a:off x="640080" y="5875020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8750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Key insight: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Month-to-month customers pay the most per month (about $66.40) and bring in $257K, 56% of all monthly charges, yet churn at 42.71%.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Churn by Monthly Charge Category</a:t>
            </a:r>
            <a:endParaRPr lang="en-US" sz="2800" dirty="0"/>
          </a:p>
        </p:txBody>
      </p:sp>
      <p:sp>
        <p:nvSpPr>
          <p:cNvPr id="3" name="Screenshot card"/>
          <p:cNvSpPr/>
          <p:nvPr/>
        </p:nvSpPr>
        <p:spPr>
          <a:xfrm>
            <a:off x="1454525" y="1280160"/>
            <a:ext cx="5686310" cy="4160520"/>
          </a:xfrm>
          <a:prstGeom prst="roundRect">
            <a:avLst>
              <a:gd name="adj" fmla="val 175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4" name="Screenshot" descr="SQL query and result of churn by monthly charge category: High 35.48, Medium 23.65, Low 10.8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1685" y="1417320"/>
            <a:ext cx="5411990" cy="3886200"/>
          </a:xfrm>
          <a:prstGeom prst="rect">
            <a:avLst/>
          </a:prstGeom>
        </p:spPr>
      </p:pic>
      <p:sp>
        <p:nvSpPr>
          <p:cNvPr id="5" name="WHAT and HOW panel"/>
          <p:cNvSpPr/>
          <p:nvPr/>
        </p:nvSpPr>
        <p:spPr>
          <a:xfrm>
            <a:off x="8366760" y="1280160"/>
            <a:ext cx="3364992" cy="4160520"/>
          </a:xfrm>
          <a:prstGeom prst="roundRect">
            <a:avLst>
              <a:gd name="adj" fmla="val 217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0" y="146304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WHAT WAS DONE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173736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Grouped customers into low, medium and high monthly charges and compared churn.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345186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HOW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372618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CASE expression on MonthlyCharges: under 35, under 70, otherwise high; then the churn rate per group.</a:t>
            </a:r>
            <a:endParaRPr lang="en-US" sz="1400" dirty="0"/>
          </a:p>
        </p:txBody>
      </p:sp>
      <p:sp>
        <p:nvSpPr>
          <p:cNvPr id="10" name="Key insight bar"/>
          <p:cNvSpPr/>
          <p:nvPr/>
        </p:nvSpPr>
        <p:spPr>
          <a:xfrm>
            <a:off x="457200" y="5623560"/>
            <a:ext cx="11274552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Info icon"/>
          <p:cNvSpPr/>
          <p:nvPr/>
        </p:nvSpPr>
        <p:spPr>
          <a:xfrm>
            <a:off x="640080" y="5875020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8750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Key insight: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The higher the monthly bill, the higher the churn: 35.48% for high charges versus 10.86% for low charges.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CTE: Churn Rate by Contract</a:t>
            </a:r>
            <a:endParaRPr lang="en-US" sz="2800" dirty="0"/>
          </a:p>
        </p:txBody>
      </p:sp>
      <p:sp>
        <p:nvSpPr>
          <p:cNvPr id="3" name="Screenshot card"/>
          <p:cNvSpPr/>
          <p:nvPr/>
        </p:nvSpPr>
        <p:spPr>
          <a:xfrm>
            <a:off x="927940" y="1280160"/>
            <a:ext cx="6739479" cy="4160520"/>
          </a:xfrm>
          <a:prstGeom prst="roundRect">
            <a:avLst>
              <a:gd name="adj" fmla="val 175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4" name="Screenshot" descr="SQL CTE calculating churn rate by contract with its result: 42.71, 11.27, 2.8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100" y="1417320"/>
            <a:ext cx="6465159" cy="3886200"/>
          </a:xfrm>
          <a:prstGeom prst="rect">
            <a:avLst/>
          </a:prstGeom>
        </p:spPr>
      </p:pic>
      <p:sp>
        <p:nvSpPr>
          <p:cNvPr id="5" name="WHAT and HOW panel"/>
          <p:cNvSpPr/>
          <p:nvPr/>
        </p:nvSpPr>
        <p:spPr>
          <a:xfrm>
            <a:off x="8366760" y="1280160"/>
            <a:ext cx="3364992" cy="4160520"/>
          </a:xfrm>
          <a:prstGeom prst="roundRect">
            <a:avLst>
              <a:gd name="adj" fmla="val 217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0" y="146304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WHAT WAS DONE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173736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Counted customers and churners per contract inside a CTE, then calculated the churn rate.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345186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HOW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372618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WITH contract_churn AS (...) over FactCustomerChurn joined to DimContract, with the rate cast to decimal(5,2).</a:t>
            </a:r>
            <a:endParaRPr lang="en-US" sz="1400" dirty="0"/>
          </a:p>
        </p:txBody>
      </p:sp>
      <p:sp>
        <p:nvSpPr>
          <p:cNvPr id="10" name="Key insight bar"/>
          <p:cNvSpPr/>
          <p:nvPr/>
        </p:nvSpPr>
        <p:spPr>
          <a:xfrm>
            <a:off x="457200" y="5623560"/>
            <a:ext cx="11274552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Info icon"/>
          <p:cNvSpPr/>
          <p:nvPr/>
        </p:nvSpPr>
        <p:spPr>
          <a:xfrm>
            <a:off x="640080" y="5875020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8750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Key insight: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The star schema gives the same answer as the raw table: 42.71%, 11.27% and 2.83%.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Ranking Contracts with RANK()</a:t>
            </a:r>
            <a:endParaRPr lang="en-US" sz="2800" dirty="0"/>
          </a:p>
        </p:txBody>
      </p:sp>
      <p:sp>
        <p:nvSpPr>
          <p:cNvPr id="3" name="Screenshot card"/>
          <p:cNvSpPr/>
          <p:nvPr/>
        </p:nvSpPr>
        <p:spPr>
          <a:xfrm>
            <a:off x="901260" y="1280160"/>
            <a:ext cx="6792839" cy="4160520"/>
          </a:xfrm>
          <a:prstGeom prst="roundRect">
            <a:avLst>
              <a:gd name="adj" fmla="val 175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4" name="Screenshot" descr="SQL query ranking contracts by churned customers with result ranks 1, 2 and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420" y="1417320"/>
            <a:ext cx="6518519" cy="3886200"/>
          </a:xfrm>
          <a:prstGeom prst="rect">
            <a:avLst/>
          </a:prstGeom>
        </p:spPr>
      </p:pic>
      <p:sp>
        <p:nvSpPr>
          <p:cNvPr id="5" name="WHAT and HOW panel"/>
          <p:cNvSpPr/>
          <p:nvPr/>
        </p:nvSpPr>
        <p:spPr>
          <a:xfrm>
            <a:off x="8366760" y="1280160"/>
            <a:ext cx="3364992" cy="4160520"/>
          </a:xfrm>
          <a:prstGeom prst="roundRect">
            <a:avLst>
              <a:gd name="adj" fmla="val 217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0" y="146304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WHAT WAS DONE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173736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Ranked the contract types by their number of churned customers.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345186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HOW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372618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RANK() OVER (ORDER BY SUM(CASE WHEN f.Churn = 1 ...) DESC).</a:t>
            </a:r>
            <a:endParaRPr lang="en-US" sz="1400" dirty="0"/>
          </a:p>
        </p:txBody>
      </p:sp>
      <p:sp>
        <p:nvSpPr>
          <p:cNvPr id="10" name="Key insight bar"/>
          <p:cNvSpPr/>
          <p:nvPr/>
        </p:nvSpPr>
        <p:spPr>
          <a:xfrm>
            <a:off x="457200" y="5623560"/>
            <a:ext cx="11274552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Info icon"/>
          <p:cNvSpPr/>
          <p:nvPr/>
        </p:nvSpPr>
        <p:spPr>
          <a:xfrm>
            <a:off x="640080" y="5875020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8750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Key insight: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Month-to-month ranks first with 1,655 churned customers, ahead of one-year (166) and two-year (48).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Window Functions: Totals per Contract</a:t>
            </a:r>
            <a:endParaRPr lang="en-US" sz="2800" dirty="0"/>
          </a:p>
        </p:txBody>
      </p:sp>
      <p:sp>
        <p:nvSpPr>
          <p:cNvPr id="3" name="Screenshot card"/>
          <p:cNvSpPr/>
          <p:nvPr/>
        </p:nvSpPr>
        <p:spPr>
          <a:xfrm>
            <a:off x="1422515" y="1280160"/>
            <a:ext cx="5750329" cy="4160520"/>
          </a:xfrm>
          <a:prstGeom prst="roundRect">
            <a:avLst>
              <a:gd name="adj" fmla="val 175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4" name="Screenshot" descr="SQL window functions adding total and churned customers per contract to every customer r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9675" y="1417320"/>
            <a:ext cx="5476009" cy="3886200"/>
          </a:xfrm>
          <a:prstGeom prst="rect">
            <a:avLst/>
          </a:prstGeom>
        </p:spPr>
      </p:pic>
      <p:sp>
        <p:nvSpPr>
          <p:cNvPr id="5" name="WHAT and HOW panel"/>
          <p:cNvSpPr/>
          <p:nvPr/>
        </p:nvSpPr>
        <p:spPr>
          <a:xfrm>
            <a:off x="8366760" y="1280160"/>
            <a:ext cx="3364992" cy="4160520"/>
          </a:xfrm>
          <a:prstGeom prst="roundRect">
            <a:avLst>
              <a:gd name="adj" fmla="val 217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0" y="146304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WHAT WAS DONE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173736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Added each contract's total and churned customer counts to every customer row, without collapsing the rows.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345186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HOW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372618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COUNT(*) OVER (PARTITION BY dc.Contract) and SUM(CAST(f.Churn AS int)) OVER (PARTITION BY dc.Contract).</a:t>
            </a:r>
            <a:endParaRPr lang="en-US" sz="1400" dirty="0"/>
          </a:p>
        </p:txBody>
      </p:sp>
      <p:sp>
        <p:nvSpPr>
          <p:cNvPr id="10" name="Key insight bar"/>
          <p:cNvSpPr/>
          <p:nvPr/>
        </p:nvSpPr>
        <p:spPr>
          <a:xfrm>
            <a:off x="457200" y="5623560"/>
            <a:ext cx="11274552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Info icon"/>
          <p:cNvSpPr/>
          <p:nvPr/>
        </p:nvSpPr>
        <p:spPr>
          <a:xfrm>
            <a:off x="640080" y="5875020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8750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Key insight: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Every month-to-month row carries its group totals: 3,875 customers and 1,655 churned.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 Reusable View: vw_ChurnByContract</a:t>
            </a:r>
            <a:endParaRPr lang="en-US" sz="2800" dirty="0"/>
          </a:p>
        </p:txBody>
      </p:sp>
      <p:sp>
        <p:nvSpPr>
          <p:cNvPr id="3" name="Screenshot card"/>
          <p:cNvSpPr/>
          <p:nvPr/>
        </p:nvSpPr>
        <p:spPr>
          <a:xfrm>
            <a:off x="1886747" y="1280160"/>
            <a:ext cx="4821867" cy="4160520"/>
          </a:xfrm>
          <a:prstGeom prst="roundRect">
            <a:avLst>
              <a:gd name="adj" fmla="val 175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4" name="Screenshot" descr="SQL code creating the vw_ChurnByContract view and its resu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3907" y="1417320"/>
            <a:ext cx="4547547" cy="3886200"/>
          </a:xfrm>
          <a:prstGeom prst="rect">
            <a:avLst/>
          </a:prstGeom>
        </p:spPr>
      </p:pic>
      <p:sp>
        <p:nvSpPr>
          <p:cNvPr id="5" name="WHAT and HOW panel"/>
          <p:cNvSpPr/>
          <p:nvPr/>
        </p:nvSpPr>
        <p:spPr>
          <a:xfrm>
            <a:off x="8366760" y="1280160"/>
            <a:ext cx="3364992" cy="4160520"/>
          </a:xfrm>
          <a:prstGeom prst="roundRect">
            <a:avLst>
              <a:gd name="adj" fmla="val 217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0" y="146304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WHAT WAS DONE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173736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Saved the contract churn summary as a view.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345186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HOW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372618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CREATE VIEW over the fact and contract tables, then SELECT * from the view ordered by ChurnRate.</a:t>
            </a:r>
            <a:endParaRPr lang="en-US" sz="1400" dirty="0"/>
          </a:p>
        </p:txBody>
      </p:sp>
      <p:sp>
        <p:nvSpPr>
          <p:cNvPr id="10" name="Key insight bar"/>
          <p:cNvSpPr/>
          <p:nvPr/>
        </p:nvSpPr>
        <p:spPr>
          <a:xfrm>
            <a:off x="457200" y="5623560"/>
            <a:ext cx="11274552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Info icon"/>
          <p:cNvSpPr/>
          <p:nvPr/>
        </p:nvSpPr>
        <p:spPr>
          <a:xfrm>
            <a:off x="640080" y="5875020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8750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Key insight: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The view returns the same figures (42.71%, 11.27%, 2.83%) and can be queried directly by Power BI.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822960" y="306324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Power BI Dashboard</a:t>
            </a:r>
            <a:endParaRPr lang="en-US" sz="40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822960" y="40690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Three interactive pages that turn the data into an executive view.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8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8C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Overview Page</a:t>
            </a:r>
            <a:endParaRPr lang="en-US" sz="2800" dirty="0"/>
          </a:p>
        </p:txBody>
      </p:sp>
      <p:sp>
        <p:nvSpPr>
          <p:cNvPr id="3" name="Screenshot card"/>
          <p:cNvSpPr/>
          <p:nvPr/>
        </p:nvSpPr>
        <p:spPr>
          <a:xfrm>
            <a:off x="701768" y="1280160"/>
            <a:ext cx="7191824" cy="4160520"/>
          </a:xfrm>
          <a:prstGeom prst="roundRect">
            <a:avLst>
              <a:gd name="adj" fmla="val 175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4" name="Screenshot" descr="Power BI Overview page with KPI cards, churned versus retained donut, churn rate by contract and gen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928" y="1417320"/>
            <a:ext cx="6917504" cy="3886200"/>
          </a:xfrm>
          <a:prstGeom prst="rect">
            <a:avLst/>
          </a:prstGeom>
        </p:spPr>
      </p:pic>
      <p:sp>
        <p:nvSpPr>
          <p:cNvPr id="5" name="WHAT and HOW panel"/>
          <p:cNvSpPr/>
          <p:nvPr/>
        </p:nvSpPr>
        <p:spPr>
          <a:xfrm>
            <a:off x="8366760" y="1280160"/>
            <a:ext cx="3364992" cy="4160520"/>
          </a:xfrm>
          <a:prstGeom prst="roundRect">
            <a:avLst>
              <a:gd name="adj" fmla="val 217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0" y="146304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WHAT WAS DONE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173736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 executive summary of customers, churn and contract performance.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345186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HOW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372618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KPI cards, a churned vs retained donut, churn rate by contract and gender, and buttons to the other pages.</a:t>
            </a:r>
            <a:endParaRPr lang="en-US" sz="1400" dirty="0"/>
          </a:p>
        </p:txBody>
      </p:sp>
      <p:sp>
        <p:nvSpPr>
          <p:cNvPr id="10" name="Key insight bar"/>
          <p:cNvSpPr/>
          <p:nvPr/>
        </p:nvSpPr>
        <p:spPr>
          <a:xfrm>
            <a:off x="457200" y="5623560"/>
            <a:ext cx="11274552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Info icon"/>
          <p:cNvSpPr/>
          <p:nvPr/>
        </p:nvSpPr>
        <p:spPr>
          <a:xfrm>
            <a:off x="640080" y="5875020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8750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Key insight: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7,043 customers, 1,869 churned (26.54%), and an average tenure of 32 months.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Customer Insights Page</a:t>
            </a:r>
            <a:endParaRPr lang="en-US" sz="2800" dirty="0"/>
          </a:p>
        </p:txBody>
      </p:sp>
      <p:sp>
        <p:nvSpPr>
          <p:cNvPr id="3" name="Screenshot card"/>
          <p:cNvSpPr/>
          <p:nvPr/>
        </p:nvSpPr>
        <p:spPr>
          <a:xfrm>
            <a:off x="693621" y="1280160"/>
            <a:ext cx="7208119" cy="4160520"/>
          </a:xfrm>
          <a:prstGeom prst="roundRect">
            <a:avLst>
              <a:gd name="adj" fmla="val 175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4" name="Screenshot" descr="Power BI Customer Insights page with churn rate charts by gender, dependents, partner, streaming and contra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781" y="1417320"/>
            <a:ext cx="6933799" cy="3886200"/>
          </a:xfrm>
          <a:prstGeom prst="rect">
            <a:avLst/>
          </a:prstGeom>
        </p:spPr>
      </p:pic>
      <p:sp>
        <p:nvSpPr>
          <p:cNvPr id="5" name="WHAT and HOW panel"/>
          <p:cNvSpPr/>
          <p:nvPr/>
        </p:nvSpPr>
        <p:spPr>
          <a:xfrm>
            <a:off x="8366760" y="1280160"/>
            <a:ext cx="3364992" cy="4160520"/>
          </a:xfrm>
          <a:prstGeom prst="roundRect">
            <a:avLst>
              <a:gd name="adj" fmla="val 217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0" y="146304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WHAT WAS DONE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173736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Explores churn across demographics and customer segments.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345186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HOW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372618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Churn-rate charts by gender, senior citizen, dependents, partner, streaming and contract, plus customer and service segment filters.</a:t>
            </a:r>
            <a:endParaRPr lang="en-US" sz="1400" dirty="0"/>
          </a:p>
        </p:txBody>
      </p:sp>
      <p:sp>
        <p:nvSpPr>
          <p:cNvPr id="10" name="Key insight bar"/>
          <p:cNvSpPr/>
          <p:nvPr/>
        </p:nvSpPr>
        <p:spPr>
          <a:xfrm>
            <a:off x="457200" y="5623560"/>
            <a:ext cx="11274552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Info icon"/>
          <p:cNvSpPr/>
          <p:nvPr/>
        </p:nvSpPr>
        <p:spPr>
          <a:xfrm>
            <a:off x="640080" y="5875020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8750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Key insight: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Customers without dependents churn at about 31%, versus about 15.5% for customers with dependents.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Financial Analysis Page</a:t>
            </a:r>
            <a:endParaRPr lang="en-US" sz="2800" dirty="0"/>
          </a:p>
        </p:txBody>
      </p:sp>
      <p:sp>
        <p:nvSpPr>
          <p:cNvPr id="3" name="Screenshot card"/>
          <p:cNvSpPr/>
          <p:nvPr/>
        </p:nvSpPr>
        <p:spPr>
          <a:xfrm>
            <a:off x="701187" y="1280160"/>
            <a:ext cx="7192985" cy="4160520"/>
          </a:xfrm>
          <a:prstGeom prst="roundRect">
            <a:avLst>
              <a:gd name="adj" fmla="val 175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4" name="Screenshot" descr="Power BI Financial Analysis page with monthly charges by churn, customer type, payment method and ten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347" y="1417320"/>
            <a:ext cx="6918665" cy="3886200"/>
          </a:xfrm>
          <a:prstGeom prst="rect">
            <a:avLst/>
          </a:prstGeom>
        </p:spPr>
      </p:pic>
      <p:sp>
        <p:nvSpPr>
          <p:cNvPr id="5" name="WHAT and HOW panel"/>
          <p:cNvSpPr/>
          <p:nvPr/>
        </p:nvSpPr>
        <p:spPr>
          <a:xfrm>
            <a:off x="8366760" y="1280160"/>
            <a:ext cx="3364992" cy="4160520"/>
          </a:xfrm>
          <a:prstGeom prst="roundRect">
            <a:avLst>
              <a:gd name="adj" fmla="val 217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0" y="146304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WHAT WAS DONE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173736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Links churn to revenue, customer type and payment method.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345186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HOW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3726180"/>
            <a:ext cx="2907792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Monthly charges by churn and customer type, churn by payment method, average tenure by churn, and payment and internet filters.</a:t>
            </a:r>
            <a:endParaRPr lang="en-US" sz="1400" dirty="0"/>
          </a:p>
        </p:txBody>
      </p:sp>
      <p:sp>
        <p:nvSpPr>
          <p:cNvPr id="10" name="Key insight bar"/>
          <p:cNvSpPr/>
          <p:nvPr/>
        </p:nvSpPr>
        <p:spPr>
          <a:xfrm>
            <a:off x="457200" y="5623560"/>
            <a:ext cx="11274552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Info icon"/>
          <p:cNvSpPr/>
          <p:nvPr/>
        </p:nvSpPr>
        <p:spPr>
          <a:xfrm>
            <a:off x="640080" y="5875020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8750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Key insight: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Churned customers hold $139.13K (30.5%) of the $456.12K in monthly charges, and electronic check shows the highest churn.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822960" y="306324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Business Analysis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822960" y="40690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From numbers to decisions: KPIs, churn drivers, insights and recommendations.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8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8C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KPIs: Churn Is Costly</a:t>
            </a:r>
            <a:endParaRPr lang="en-US" sz="2800" dirty="0"/>
          </a:p>
        </p:txBody>
      </p:sp>
      <p:sp>
        <p:nvSpPr>
          <p:cNvPr id="3" name="KPI card"/>
          <p:cNvSpPr/>
          <p:nvPr/>
        </p:nvSpPr>
        <p:spPr>
          <a:xfrm>
            <a:off x="457200" y="1280160"/>
            <a:ext cx="3636264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CHURN RATE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087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26.5%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60320"/>
            <a:ext cx="3087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1,869 of 7,043 customers left</a:t>
            </a:r>
            <a:endParaRPr lang="en-US" sz="1400" dirty="0"/>
          </a:p>
        </p:txBody>
      </p:sp>
      <p:sp>
        <p:nvSpPr>
          <p:cNvPr id="7" name="KPI card"/>
          <p:cNvSpPr/>
          <p:nvPr/>
        </p:nvSpPr>
        <p:spPr>
          <a:xfrm>
            <a:off x="4276344" y="1280160"/>
            <a:ext cx="3636264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50664" y="1463040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RETENTION RATE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50664" y="1783080"/>
            <a:ext cx="3087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73.5%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4550664" y="2560320"/>
            <a:ext cx="3087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5,174 customers stayed</a:t>
            </a:r>
            <a:endParaRPr lang="en-US" sz="1400" dirty="0"/>
          </a:p>
        </p:txBody>
      </p:sp>
      <p:sp>
        <p:nvSpPr>
          <p:cNvPr id="11" name="KPI card"/>
          <p:cNvSpPr/>
          <p:nvPr/>
        </p:nvSpPr>
        <p:spPr>
          <a:xfrm>
            <a:off x="8095488" y="1280160"/>
            <a:ext cx="3636264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69808" y="1463040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REVENUE TIED TO CHURN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369808" y="1783080"/>
            <a:ext cx="3087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30.5%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8369808" y="2560320"/>
            <a:ext cx="3087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$139K of $456K in monthly charges</a:t>
            </a:r>
            <a:endParaRPr lang="en-US" sz="1400" dirty="0"/>
          </a:p>
        </p:txBody>
      </p:sp>
      <p:sp>
        <p:nvSpPr>
          <p:cNvPr id="15" name="KPI card"/>
          <p:cNvSpPr/>
          <p:nvPr/>
        </p:nvSpPr>
        <p:spPr>
          <a:xfrm>
            <a:off x="457200" y="3337560"/>
            <a:ext cx="3636264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520440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AVG MONTHLY BILL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840480"/>
            <a:ext cx="3087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$74.4 vs $61.3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617720"/>
            <a:ext cx="3087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churned vs retained customers</a:t>
            </a:r>
            <a:endParaRPr lang="en-US" sz="1400" dirty="0"/>
          </a:p>
        </p:txBody>
      </p:sp>
      <p:sp>
        <p:nvSpPr>
          <p:cNvPr id="19" name="KPI card"/>
          <p:cNvSpPr/>
          <p:nvPr/>
        </p:nvSpPr>
        <p:spPr>
          <a:xfrm>
            <a:off x="4276344" y="3337560"/>
            <a:ext cx="3636264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50664" y="3520440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AVG TENURE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50664" y="3840480"/>
            <a:ext cx="3087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18 vs 38</a:t>
            </a:r>
            <a:endParaRPr lang="en-US" sz="3600" dirty="0"/>
          </a:p>
        </p:txBody>
      </p:sp>
      <p:sp>
        <p:nvSpPr>
          <p:cNvPr id="22" name="Text 20"/>
          <p:cNvSpPr txBox="1"/>
          <p:nvPr/>
        </p:nvSpPr>
        <p:spPr>
          <a:xfrm>
            <a:off x="4550664" y="4617720"/>
            <a:ext cx="3087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months, churned vs retained customers</a:t>
            </a:r>
            <a:endParaRPr lang="en-US" sz="1400" dirty="0"/>
          </a:p>
        </p:txBody>
      </p:sp>
      <p:sp>
        <p:nvSpPr>
          <p:cNvPr id="23" name="KPI card"/>
          <p:cNvSpPr/>
          <p:nvPr/>
        </p:nvSpPr>
        <p:spPr>
          <a:xfrm>
            <a:off x="8095488" y="3337560"/>
            <a:ext cx="3636264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69808" y="3520440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MONTH-TO-MONTH SHARE OF CHURN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369808" y="3840480"/>
            <a:ext cx="3087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88.6%</a:t>
            </a:r>
            <a:endParaRPr lang="en-US" sz="3600" dirty="0"/>
          </a:p>
        </p:txBody>
      </p:sp>
      <p:sp>
        <p:nvSpPr>
          <p:cNvPr id="26" name="Text 24"/>
          <p:cNvSpPr txBox="1"/>
          <p:nvPr/>
        </p:nvSpPr>
        <p:spPr>
          <a:xfrm>
            <a:off x="8369808" y="4617720"/>
            <a:ext cx="3087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all churners were on month-to-month contracts</a:t>
            </a:r>
            <a:endParaRPr lang="en-US" sz="1400" dirty="0"/>
          </a:p>
        </p:txBody>
      </p:sp>
      <p:sp>
        <p:nvSpPr>
          <p:cNvPr id="27" name="Key insight bar"/>
          <p:cNvSpPr/>
          <p:nvPr/>
        </p:nvSpPr>
        <p:spPr>
          <a:xfrm>
            <a:off x="457200" y="5623560"/>
            <a:ext cx="11274552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Info icon"/>
          <p:cNvSpPr/>
          <p:nvPr/>
        </p:nvSpPr>
        <p:spPr>
          <a:xfrm>
            <a:off x="640080" y="5875020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58750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Key insight: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Churners pay more ($74.4 vs $61.3 a month) but stay about half as long (18 vs 38 months), and nearly 9 in 10 are on month-to-month contracts.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Contract Type Is the Biggest Driver</a:t>
            </a:r>
            <a:endParaRPr lang="en-US" sz="2800" dirty="0"/>
          </a:p>
        </p:txBody>
      </p:sp>
      <p:sp>
        <p:nvSpPr>
          <p:cNvPr id="3" name="Chart card"/>
          <p:cNvSpPr/>
          <p:nvPr/>
        </p:nvSpPr>
        <p:spPr>
          <a:xfrm>
            <a:off x="457200" y="1280160"/>
            <a:ext cx="7040880" cy="4160520"/>
          </a:xfrm>
          <a:prstGeom prst="roundRect">
            <a:avLst>
              <a:gd name="adj" fmla="val 175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4" name="Chart picture" descr="Bar chart: Churn rate by contract type. Month-to-month 42.7%, One year 11.3%, Two year 2.8%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858000" cy="3977640"/>
          </a:xfrm>
          <a:prstGeom prst="rect">
            <a:avLst/>
          </a:prstGeom>
        </p:spPr>
      </p:pic>
      <p:sp>
        <p:nvSpPr>
          <p:cNvPr id="5" name="Stat card"/>
          <p:cNvSpPr/>
          <p:nvPr/>
        </p:nvSpPr>
        <p:spPr>
          <a:xfrm>
            <a:off x="7726680" y="1280160"/>
            <a:ext cx="4005072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01000" y="1508760"/>
            <a:ext cx="3456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55.0%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331720"/>
            <a:ext cx="3456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customers are on month-to-month contracts</a:t>
            </a:r>
            <a:endParaRPr lang="en-US" sz="1400" dirty="0"/>
          </a:p>
        </p:txBody>
      </p:sp>
      <p:sp>
        <p:nvSpPr>
          <p:cNvPr id="8" name="Stat card"/>
          <p:cNvSpPr/>
          <p:nvPr/>
        </p:nvSpPr>
        <p:spPr>
          <a:xfrm>
            <a:off x="7726680" y="3429000"/>
            <a:ext cx="4005072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01000" y="3657600"/>
            <a:ext cx="3456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88.6%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4480560"/>
            <a:ext cx="3456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all churn comes from month-to-month customers</a:t>
            </a:r>
            <a:endParaRPr lang="en-US" sz="1400" dirty="0"/>
          </a:p>
        </p:txBody>
      </p:sp>
      <p:sp>
        <p:nvSpPr>
          <p:cNvPr id="11" name="Key insight bar"/>
          <p:cNvSpPr/>
          <p:nvPr/>
        </p:nvSpPr>
        <p:spPr>
          <a:xfrm>
            <a:off x="457200" y="5623560"/>
            <a:ext cx="11274552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Info icon"/>
          <p:cNvSpPr/>
          <p:nvPr/>
        </p:nvSpPr>
        <p:spPr>
          <a:xfrm>
            <a:off x="640080" y="5875020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58750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Key insight: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Moving customers off month-to-month is the biggest lever: two-year contracts churn at just 2.8%, against 42.7% for month-to-month.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The First Year Is the Danger Zone</a:t>
            </a:r>
            <a:endParaRPr lang="en-US" sz="2800" dirty="0"/>
          </a:p>
        </p:txBody>
      </p:sp>
      <p:sp>
        <p:nvSpPr>
          <p:cNvPr id="3" name="Chart card"/>
          <p:cNvSpPr/>
          <p:nvPr/>
        </p:nvSpPr>
        <p:spPr>
          <a:xfrm>
            <a:off x="457200" y="1280160"/>
            <a:ext cx="7040880" cy="4160520"/>
          </a:xfrm>
          <a:prstGeom prst="roundRect">
            <a:avLst>
              <a:gd name="adj" fmla="val 175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4" name="Chart picture" descr="Bar chart: Churn rate by tenure (months with the company). 0–6 52.9%, 7–12 35.9%, 13–24 28.7%, 25–48 20.4%, 49–72 9.5%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858000" cy="3977640"/>
          </a:xfrm>
          <a:prstGeom prst="rect">
            <a:avLst/>
          </a:prstGeom>
        </p:spPr>
      </p:pic>
      <p:sp>
        <p:nvSpPr>
          <p:cNvPr id="5" name="Stat card"/>
          <p:cNvSpPr/>
          <p:nvPr/>
        </p:nvSpPr>
        <p:spPr>
          <a:xfrm>
            <a:off x="7726680" y="1280160"/>
            <a:ext cx="4005072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01000" y="1508760"/>
            <a:ext cx="3456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52.9%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331720"/>
            <a:ext cx="3456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churn in the first 6 months</a:t>
            </a:r>
            <a:endParaRPr lang="en-US" sz="1400" dirty="0"/>
          </a:p>
        </p:txBody>
      </p:sp>
      <p:sp>
        <p:nvSpPr>
          <p:cNvPr id="8" name="Stat card"/>
          <p:cNvSpPr/>
          <p:nvPr/>
        </p:nvSpPr>
        <p:spPr>
          <a:xfrm>
            <a:off x="7726680" y="3429000"/>
            <a:ext cx="4005072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01000" y="3657600"/>
            <a:ext cx="3456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55.5%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4480560"/>
            <a:ext cx="3456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all churners left within their first 12 months</a:t>
            </a:r>
            <a:endParaRPr lang="en-US" sz="1400" dirty="0"/>
          </a:p>
        </p:txBody>
      </p:sp>
      <p:sp>
        <p:nvSpPr>
          <p:cNvPr id="11" name="Key insight bar"/>
          <p:cNvSpPr/>
          <p:nvPr/>
        </p:nvSpPr>
        <p:spPr>
          <a:xfrm>
            <a:off x="457200" y="5623560"/>
            <a:ext cx="11274552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Info icon"/>
          <p:cNvSpPr/>
          <p:nvPr/>
        </p:nvSpPr>
        <p:spPr>
          <a:xfrm>
            <a:off x="640080" y="5875020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58750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Key insight: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Churn falls steadily with tenure, from 52.9% in months 0 to 6 to 9.5% after four years, so early retention matters most.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Fiber and Electronic Check Stand Out</a:t>
            </a:r>
            <a:endParaRPr lang="en-US" sz="2800" dirty="0"/>
          </a:p>
        </p:txBody>
      </p:sp>
      <p:sp>
        <p:nvSpPr>
          <p:cNvPr id="3" name="Chart card"/>
          <p:cNvSpPr/>
          <p:nvPr/>
        </p:nvSpPr>
        <p:spPr>
          <a:xfrm>
            <a:off x="457200" y="1280160"/>
            <a:ext cx="5522976" cy="4160520"/>
          </a:xfrm>
          <a:prstGeom prst="roundRect">
            <a:avLst>
              <a:gd name="adj" fmla="val 175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4" name="Chart picture" descr="Bar chart: Churn rate by internet service. Fiber optic 41.9%, DSL 19.0%, No internet 7.4%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340096" cy="3063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45262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Fiber is 44.0% of customers but 69.4% of churn.</a:t>
            </a:r>
            <a:endParaRPr lang="en-US" sz="1400" dirty="0"/>
          </a:p>
        </p:txBody>
      </p:sp>
      <p:sp>
        <p:nvSpPr>
          <p:cNvPr id="6" name="Chart card"/>
          <p:cNvSpPr/>
          <p:nvPr/>
        </p:nvSpPr>
        <p:spPr>
          <a:xfrm>
            <a:off x="6208776" y="1280160"/>
            <a:ext cx="5522976" cy="4160520"/>
          </a:xfrm>
          <a:prstGeom prst="roundRect">
            <a:avLst>
              <a:gd name="adj" fmla="val 175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7" name="Chart picture" descr="Bar chart: Churn rate by payment method. Electronic check 45.3%, Mailed check 19.1%, Bank transfer 16.7%, Credit card 15.2%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216" y="1371600"/>
            <a:ext cx="5340096" cy="30632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83096" y="45262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Electronic check is 33.6% of customers but 57.3% of churn.</a:t>
            </a:r>
            <a:endParaRPr lang="en-US" sz="1400" dirty="0"/>
          </a:p>
        </p:txBody>
      </p:sp>
      <p:sp>
        <p:nvSpPr>
          <p:cNvPr id="9" name="Key insight bar"/>
          <p:cNvSpPr/>
          <p:nvPr/>
        </p:nvSpPr>
        <p:spPr>
          <a:xfrm>
            <a:off x="457200" y="5623560"/>
            <a:ext cx="11274552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Info icon"/>
          <p:cNvSpPr/>
          <p:nvPr/>
        </p:nvSpPr>
        <p:spPr>
          <a:xfrm>
            <a:off x="640080" y="5875020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0080" y="58750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09728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Key insight: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Both effects hold within month-to-month contracts: fiber churns at 54.6% vs 32.2% for DSL, and electronic check at 53.7% vs 31.6% to 34.1% for other methods.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Support and Security Keep Customers</a:t>
            </a:r>
            <a:endParaRPr lang="en-US" sz="2800" dirty="0"/>
          </a:p>
        </p:txBody>
      </p:sp>
      <p:sp>
        <p:nvSpPr>
          <p:cNvPr id="3" name="Chart card"/>
          <p:cNvSpPr/>
          <p:nvPr/>
        </p:nvSpPr>
        <p:spPr>
          <a:xfrm>
            <a:off x="457200" y="1280160"/>
            <a:ext cx="7040880" cy="4160520"/>
          </a:xfrm>
          <a:prstGeom prst="roundRect">
            <a:avLst>
              <a:gd name="adj" fmla="val 175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4" name="Chart picture" descr="Bar chart: Churn rate by number of add-on services (internet customers). 0 52.2%, 1 45.8%, 2 35.8%, 3 27.4%, 4 22.3%, 5 12.4%, 6 5.3%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858000" cy="3977640"/>
          </a:xfrm>
          <a:prstGeom prst="rect">
            <a:avLst/>
          </a:prstGeom>
        </p:spPr>
      </p:pic>
      <p:sp>
        <p:nvSpPr>
          <p:cNvPr id="5" name="Stat card"/>
          <p:cNvSpPr/>
          <p:nvPr/>
        </p:nvSpPr>
        <p:spPr>
          <a:xfrm>
            <a:off x="7726680" y="1280160"/>
            <a:ext cx="4005072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01000" y="1508760"/>
            <a:ext cx="3456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41.6% vs 15.2%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331720"/>
            <a:ext cx="3456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churn without vs with tech support</a:t>
            </a:r>
            <a:endParaRPr lang="en-US" sz="1400" dirty="0"/>
          </a:p>
        </p:txBody>
      </p:sp>
      <p:sp>
        <p:nvSpPr>
          <p:cNvPr id="8" name="Stat card"/>
          <p:cNvSpPr/>
          <p:nvPr/>
        </p:nvSpPr>
        <p:spPr>
          <a:xfrm>
            <a:off x="7726680" y="3429000"/>
            <a:ext cx="4005072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01000" y="3657600"/>
            <a:ext cx="3456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41.8% vs 14.6%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4480560"/>
            <a:ext cx="3456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churn without vs with online security</a:t>
            </a:r>
            <a:endParaRPr lang="en-US" sz="1400" dirty="0"/>
          </a:p>
        </p:txBody>
      </p:sp>
      <p:sp>
        <p:nvSpPr>
          <p:cNvPr id="11" name="Key insight bar"/>
          <p:cNvSpPr/>
          <p:nvPr/>
        </p:nvSpPr>
        <p:spPr>
          <a:xfrm>
            <a:off x="457200" y="5623560"/>
            <a:ext cx="11274552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Info icon"/>
          <p:cNvSpPr/>
          <p:nvPr/>
        </p:nvSpPr>
        <p:spPr>
          <a:xfrm>
            <a:off x="640080" y="5875020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58750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Key insight: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Each extra add-on lowers churn, from 52.2% with none to 5.3% with all six. Figures cover customers with internet service only.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Who Is Most at Risk</a:t>
            </a:r>
            <a:endParaRPr lang="en-US" sz="2800" dirty="0"/>
          </a:p>
        </p:txBody>
      </p:sp>
      <p:sp>
        <p:nvSpPr>
          <p:cNvPr id="3" name="Chart card"/>
          <p:cNvSpPr/>
          <p:nvPr/>
        </p:nvSpPr>
        <p:spPr>
          <a:xfrm>
            <a:off x="457200" y="1280160"/>
            <a:ext cx="7040880" cy="4160520"/>
          </a:xfrm>
          <a:prstGeom prst="roundRect">
            <a:avLst>
              <a:gd name="adj" fmla="val 175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4" name="Chart picture" descr="Bar chart: Churn rate by customer group. Senior citizen 41.7%, Not senior 23.6%, No partner 33.0%, Has partner 19.7%, No dependents 31.3%, Has dependents 15.5%, Female 26.9%, Male 26.2%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858000" cy="3977640"/>
          </a:xfrm>
          <a:prstGeom prst="rect">
            <a:avLst/>
          </a:prstGeom>
        </p:spPr>
      </p:pic>
      <p:sp>
        <p:nvSpPr>
          <p:cNvPr id="5" name="Stat card"/>
          <p:cNvSpPr/>
          <p:nvPr/>
        </p:nvSpPr>
        <p:spPr>
          <a:xfrm>
            <a:off x="7726680" y="1280160"/>
            <a:ext cx="4005072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01000" y="1508760"/>
            <a:ext cx="3456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34.2% vs 14.2%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331720"/>
            <a:ext cx="3456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churn: no partner and no dependents vs both</a:t>
            </a:r>
            <a:endParaRPr lang="en-US" sz="1400" dirty="0"/>
          </a:p>
        </p:txBody>
      </p:sp>
      <p:sp>
        <p:nvSpPr>
          <p:cNvPr id="8" name="Stat card"/>
          <p:cNvSpPr/>
          <p:nvPr/>
        </p:nvSpPr>
        <p:spPr>
          <a:xfrm>
            <a:off x="7726680" y="3429000"/>
            <a:ext cx="4005072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01000" y="3657600"/>
            <a:ext cx="3456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26.9% vs 26.2%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4480560"/>
            <a:ext cx="3456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female vs male: gender is not a driver</a:t>
            </a:r>
            <a:endParaRPr lang="en-US" sz="1400" dirty="0"/>
          </a:p>
        </p:txBody>
      </p:sp>
      <p:sp>
        <p:nvSpPr>
          <p:cNvPr id="11" name="Key insight bar"/>
          <p:cNvSpPr/>
          <p:nvPr/>
        </p:nvSpPr>
        <p:spPr>
          <a:xfrm>
            <a:off x="457200" y="5623560"/>
            <a:ext cx="11274552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Info icon"/>
          <p:cNvSpPr/>
          <p:nvPr/>
        </p:nvSpPr>
        <p:spPr>
          <a:xfrm>
            <a:off x="640080" y="5875020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58750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Key insight: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Seniors and customers without a partner or dependents churn the most, while gender makes no meaningful difference.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One Segment Drives 42% of Churn</a:t>
            </a:r>
            <a:endParaRPr lang="en-US" sz="2800" dirty="0"/>
          </a:p>
        </p:txBody>
      </p:sp>
      <p:sp>
        <p:nvSpPr>
          <p:cNvPr id="3" name="Chart card"/>
          <p:cNvSpPr/>
          <p:nvPr/>
        </p:nvSpPr>
        <p:spPr>
          <a:xfrm>
            <a:off x="457200" y="1280160"/>
            <a:ext cx="7040880" cy="4160520"/>
          </a:xfrm>
          <a:prstGeom prst="roundRect">
            <a:avLst>
              <a:gd name="adj" fmla="val 175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4" name="Chart picture" descr="Bar chart: Churn rate by customer segment. All customers 26.5%, Two-year contract 2.8%, Month-to-month, first 12 months 51.4%, Month-to-month + fiber + e-check 60.4%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858000" cy="3977640"/>
          </a:xfrm>
          <a:prstGeom prst="rect">
            <a:avLst/>
          </a:prstGeom>
        </p:spPr>
      </p:pic>
      <p:sp>
        <p:nvSpPr>
          <p:cNvPr id="5" name="Stat card"/>
          <p:cNvSpPr/>
          <p:nvPr/>
        </p:nvSpPr>
        <p:spPr>
          <a:xfrm>
            <a:off x="7726680" y="1280160"/>
            <a:ext cx="4005072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01000" y="1508760"/>
            <a:ext cx="3456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1,307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331720"/>
            <a:ext cx="3456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customers (18.6% of the base) are month-to-month, on fiber and paying by e-check</a:t>
            </a:r>
            <a:endParaRPr lang="en-US" sz="1400" dirty="0"/>
          </a:p>
        </p:txBody>
      </p:sp>
      <p:sp>
        <p:nvSpPr>
          <p:cNvPr id="8" name="Stat card"/>
          <p:cNvSpPr/>
          <p:nvPr/>
        </p:nvSpPr>
        <p:spPr>
          <a:xfrm>
            <a:off x="7726680" y="3429000"/>
            <a:ext cx="4005072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01000" y="3657600"/>
            <a:ext cx="3456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42.2%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4480560"/>
            <a:ext cx="3456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all churn comes from that segment (789 churners)</a:t>
            </a:r>
            <a:endParaRPr lang="en-US" sz="1400" dirty="0"/>
          </a:p>
        </p:txBody>
      </p:sp>
      <p:sp>
        <p:nvSpPr>
          <p:cNvPr id="11" name="Key insight bar"/>
          <p:cNvSpPr/>
          <p:nvPr/>
        </p:nvSpPr>
        <p:spPr>
          <a:xfrm>
            <a:off x="457200" y="5623560"/>
            <a:ext cx="11274552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Info icon"/>
          <p:cNvSpPr/>
          <p:nvPr/>
        </p:nvSpPr>
        <p:spPr>
          <a:xfrm>
            <a:off x="640080" y="5875020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58750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Key insight: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Month-to-month + fiber + electronic check customers are 18.6% of the base but 42.2% of churn, with a 60.4% churn rate.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Recommendations: Lock In and Support</a:t>
            </a:r>
            <a:endParaRPr lang="en-US" sz="2800" dirty="0"/>
          </a:p>
        </p:txBody>
      </p:sp>
      <p:sp>
        <p:nvSpPr>
          <p:cNvPr id="3" name="Recommendation card"/>
          <p:cNvSpPr/>
          <p:nvPr/>
        </p:nvSpPr>
        <p:spPr>
          <a:xfrm>
            <a:off x="457200" y="1280160"/>
            <a:ext cx="5522976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Number badge"/>
          <p:cNvSpPr/>
          <p:nvPr/>
        </p:nvSpPr>
        <p:spPr>
          <a:xfrm>
            <a:off x="68580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63040"/>
            <a:ext cx="4425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Move month-to-month customers to 12/24-month contracts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84832"/>
            <a:ext cx="4425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Offer a price lock, a discount or a free add-on for switching.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852928"/>
            <a:ext cx="4425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Churn: 42.7% vs 11.3% (1 yr) and 2.8% (2 yr)</a:t>
            </a:r>
            <a:endParaRPr lang="en-US" sz="1200" dirty="0"/>
          </a:p>
        </p:txBody>
      </p:sp>
      <p:sp>
        <p:nvSpPr>
          <p:cNvPr id="9" name="Recommendation card"/>
          <p:cNvSpPr/>
          <p:nvPr/>
        </p:nvSpPr>
        <p:spPr>
          <a:xfrm>
            <a:off x="6208776" y="1280160"/>
            <a:ext cx="5522976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Number badge"/>
          <p:cNvSpPr/>
          <p:nvPr/>
        </p:nvSpPr>
        <p:spPr>
          <a:xfrm>
            <a:off x="6437376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3737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77456" y="1463040"/>
            <a:ext cx="4425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Build a first-90-days onboarding program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077456" y="2084832"/>
            <a:ext cx="4425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welcome call, a check-in around day 30, and fast follow-up on early issues.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077456" y="2852928"/>
            <a:ext cx="4425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52.9% churn in months 0–6; 55.5% of churn in year one</a:t>
            </a:r>
            <a:endParaRPr lang="en-US" sz="1200" dirty="0"/>
          </a:p>
        </p:txBody>
      </p:sp>
      <p:sp>
        <p:nvSpPr>
          <p:cNvPr id="15" name="Recommendation card"/>
          <p:cNvSpPr/>
          <p:nvPr/>
        </p:nvSpPr>
        <p:spPr>
          <a:xfrm>
            <a:off x="457200" y="3429000"/>
            <a:ext cx="5522976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6" name="Number badge"/>
          <p:cNvSpPr/>
          <p:nvPr/>
        </p:nvSpPr>
        <p:spPr>
          <a:xfrm>
            <a:off x="685800" y="3657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611880"/>
            <a:ext cx="4425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Fix the fiber experience and bundle support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233672"/>
            <a:ext cx="4425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Review fiber quality and pricing; offer a support + security bundle, for example free for 3 months.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5001768"/>
            <a:ext cx="4425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Within month-to-month: fiber 54.6% vs DSL 32.2%</a:t>
            </a:r>
            <a:endParaRPr lang="en-US" sz="1200" dirty="0"/>
          </a:p>
        </p:txBody>
      </p:sp>
      <p:sp>
        <p:nvSpPr>
          <p:cNvPr id="21" name="Recommendation card"/>
          <p:cNvSpPr/>
          <p:nvPr/>
        </p:nvSpPr>
        <p:spPr>
          <a:xfrm>
            <a:off x="6208776" y="3429000"/>
            <a:ext cx="5522976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2" name="Number badge"/>
          <p:cNvSpPr/>
          <p:nvPr/>
        </p:nvSpPr>
        <p:spPr>
          <a:xfrm>
            <a:off x="6437376" y="3657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37376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077456" y="3611880"/>
            <a:ext cx="4425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Push tech support and online security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077456" y="4233672"/>
            <a:ext cx="4425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Run a free trial for internet customers who have neither service.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077456" y="5001768"/>
            <a:ext cx="4425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About 15% churn with them vs about 42% without</a:t>
            </a:r>
            <a:endParaRPr lang="en-US" sz="1200" dirty="0"/>
          </a:p>
        </p:txBody>
      </p:sp>
      <p:sp>
        <p:nvSpPr>
          <p:cNvPr id="27" name="Key insight bar"/>
          <p:cNvSpPr/>
          <p:nvPr/>
        </p:nvSpPr>
        <p:spPr>
          <a:xfrm>
            <a:off x="457200" y="5623560"/>
            <a:ext cx="11274552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Info icon"/>
          <p:cNvSpPr/>
          <p:nvPr/>
        </p:nvSpPr>
        <p:spPr>
          <a:xfrm>
            <a:off x="640080" y="5875020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58750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Key insight: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Contracts and onboarding go after the biggest pools of churn: month-to-month customers (88.6% of churn) and first-year customers (55.5%).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Recommendations: Payments and Priorities</a:t>
            </a:r>
            <a:endParaRPr lang="en-US" sz="2800" dirty="0"/>
          </a:p>
        </p:txBody>
      </p:sp>
      <p:sp>
        <p:nvSpPr>
          <p:cNvPr id="3" name="Recommendation card"/>
          <p:cNvSpPr/>
          <p:nvPr/>
        </p:nvSpPr>
        <p:spPr>
          <a:xfrm>
            <a:off x="457200" y="1280160"/>
            <a:ext cx="3636264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Number badge"/>
          <p:cNvSpPr/>
          <p:nvPr/>
        </p:nvSpPr>
        <p:spPr>
          <a:xfrm>
            <a:off x="68580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3179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Move electronic-check payers to auto-pay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07792"/>
            <a:ext cx="3179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Offer a small bill credit for switching to bank transfer or credit card.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611880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45.3% churn vs 15.2%–19.1% for other methods</a:t>
            </a:r>
            <a:endParaRPr lang="en-US" sz="1200" dirty="0"/>
          </a:p>
        </p:txBody>
      </p:sp>
      <p:sp>
        <p:nvSpPr>
          <p:cNvPr id="9" name="Recommendation card"/>
          <p:cNvSpPr/>
          <p:nvPr/>
        </p:nvSpPr>
        <p:spPr>
          <a:xfrm>
            <a:off x="4276344" y="1280160"/>
            <a:ext cx="3636264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Number badge"/>
          <p:cNvSpPr/>
          <p:nvPr/>
        </p:nvSpPr>
        <p:spPr>
          <a:xfrm>
            <a:off x="4504944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04944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04944" y="2103120"/>
            <a:ext cx="3179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Simplify plans for seniors and singles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04944" y="2907792"/>
            <a:ext cx="3179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dedicated support line, simpler plans, and family or partner offers.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04944" y="3611880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Seniors 41.7%; no partner and no dependents 34.2%</a:t>
            </a:r>
            <a:endParaRPr lang="en-US" sz="1200" dirty="0"/>
          </a:p>
        </p:txBody>
      </p:sp>
      <p:sp>
        <p:nvSpPr>
          <p:cNvPr id="15" name="Recommendation card"/>
          <p:cNvSpPr/>
          <p:nvPr/>
        </p:nvSpPr>
        <p:spPr>
          <a:xfrm>
            <a:off x="8095488" y="1280160"/>
            <a:ext cx="3636264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6" name="Number badge"/>
          <p:cNvSpPr/>
          <p:nvPr/>
        </p:nvSpPr>
        <p:spPr>
          <a:xfrm>
            <a:off x="8324088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4088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24088" y="2103120"/>
            <a:ext cx="3179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Give retention a priority at-risk list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324088" y="2907792"/>
            <a:ext cx="3179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Month-to-month + fiber + e-check customers (1,307), newest first.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324088" y="3611880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60.4% churn; 42.2% of all churn</a:t>
            </a:r>
            <a:endParaRPr lang="en-US" sz="1200" dirty="0"/>
          </a:p>
        </p:txBody>
      </p:sp>
      <p:sp>
        <p:nvSpPr>
          <p:cNvPr id="21" name="Note card"/>
          <p:cNvSpPr/>
          <p:nvPr/>
        </p:nvSpPr>
        <p:spPr>
          <a:xfrm>
            <a:off x="457200" y="4297680"/>
            <a:ext cx="11274552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446227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NOT WORTH PRIORITIZING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73659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Gender-based campaigns, and streaming bundles as a retention tool. Neither moves churn much.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446227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SCALE OF THE PRIZE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473659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10-point drop in churn in the at-risk segment keeps about 131 customers, roughly 7.0% of all churners.</a:t>
            </a:r>
            <a:endParaRPr lang="en-US" sz="1400" dirty="0"/>
          </a:p>
        </p:txBody>
      </p:sp>
      <p:sp>
        <p:nvSpPr>
          <p:cNvPr id="26" name="Key insight bar"/>
          <p:cNvSpPr/>
          <p:nvPr/>
        </p:nvSpPr>
        <p:spPr>
          <a:xfrm>
            <a:off x="457200" y="5623560"/>
            <a:ext cx="11274552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Info icon"/>
          <p:cNvSpPr/>
          <p:nvPr/>
        </p:nvSpPr>
        <p:spPr>
          <a:xfrm>
            <a:off x="640080" y="5875020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58750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09728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Key insight: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 priority list lets retention work focus on 1,307 customers who account for 42.2% of all churn.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Caveats and Next Steps</a:t>
            </a:r>
            <a:endParaRPr lang="en-US" sz="2800" dirty="0"/>
          </a:p>
        </p:txBody>
      </p:sp>
      <p:sp>
        <p:nvSpPr>
          <p:cNvPr id="3" name="Caveat card"/>
          <p:cNvSpPr/>
          <p:nvPr/>
        </p:nvSpPr>
        <p:spPr>
          <a:xfrm>
            <a:off x="457200" y="1280160"/>
            <a:ext cx="3636264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Number badge"/>
          <p:cNvSpPr/>
          <p:nvPr/>
        </p:nvSpPr>
        <p:spPr>
          <a:xfrm>
            <a:off x="685800" y="150876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63040"/>
            <a:ext cx="2538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Patterns, not proven causes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94560"/>
            <a:ext cx="31790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Customers who choose long contracts or buy support may simply be more loyal to begin with.</a:t>
            </a:r>
            <a:endParaRPr lang="en-US" sz="1400" dirty="0"/>
          </a:p>
        </p:txBody>
      </p:sp>
      <p:sp>
        <p:nvSpPr>
          <p:cNvPr id="8" name="Caveat card"/>
          <p:cNvSpPr/>
          <p:nvPr/>
        </p:nvSpPr>
        <p:spPr>
          <a:xfrm>
            <a:off x="4276344" y="1280160"/>
            <a:ext cx="3636264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Number badge"/>
          <p:cNvSpPr/>
          <p:nvPr/>
        </p:nvSpPr>
        <p:spPr>
          <a:xfrm>
            <a:off x="4504944" y="150876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04944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45024" y="1463040"/>
            <a:ext cx="2538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 “reason for leaving” data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04944" y="2194560"/>
            <a:ext cx="31790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dataset shows who leaves, not why. Exit surveys are needed to confirm the drivers.</a:t>
            </a:r>
            <a:endParaRPr lang="en-US" sz="1400" dirty="0"/>
          </a:p>
        </p:txBody>
      </p:sp>
      <p:sp>
        <p:nvSpPr>
          <p:cNvPr id="13" name="Caveat card"/>
          <p:cNvSpPr/>
          <p:nvPr/>
        </p:nvSpPr>
        <p:spPr>
          <a:xfrm>
            <a:off x="8095488" y="1280160"/>
            <a:ext cx="3636264" cy="214884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Number badge"/>
          <p:cNvSpPr/>
          <p:nvPr/>
        </p:nvSpPr>
        <p:spPr>
          <a:xfrm>
            <a:off x="8324088" y="150876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4088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64168" y="1463040"/>
            <a:ext cx="2538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Drivers overlap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24088" y="2194560"/>
            <a:ext cx="31790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78.2% of e-check customers are month-to-month and 67.4% have fiber, so effects partly overlap.</a:t>
            </a:r>
            <a:endParaRPr lang="en-US" sz="1400" dirty="0"/>
          </a:p>
        </p:txBody>
      </p:sp>
      <p:sp>
        <p:nvSpPr>
          <p:cNvPr id="18" name="Next steps card"/>
          <p:cNvSpPr/>
          <p:nvPr/>
        </p:nvSpPr>
        <p:spPr>
          <a:xfrm>
            <a:off x="457200" y="3611880"/>
            <a:ext cx="11274552" cy="18288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767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20" name="Step badge"/>
          <p:cNvSpPr/>
          <p:nvPr/>
        </p:nvSpPr>
        <p:spPr>
          <a:xfrm>
            <a:off x="731520" y="41605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617720"/>
            <a:ext cx="25443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Pilot contract and onboarding offers as A/B tests</a:t>
            </a:r>
            <a:endParaRPr lang="en-US" sz="1400" dirty="0"/>
          </a:p>
        </p:txBody>
      </p:sp>
      <p:sp>
        <p:nvSpPr>
          <p:cNvPr id="23" name="Step badge"/>
          <p:cNvSpPr/>
          <p:nvPr/>
        </p:nvSpPr>
        <p:spPr>
          <a:xfrm>
            <a:off x="3458718" y="41605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58718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458718" y="4617720"/>
            <a:ext cx="25443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Run exit surveys to learn why customers leave</a:t>
            </a:r>
            <a:endParaRPr lang="en-US" sz="1400" dirty="0"/>
          </a:p>
        </p:txBody>
      </p:sp>
      <p:sp>
        <p:nvSpPr>
          <p:cNvPr id="26" name="Step badge"/>
          <p:cNvSpPr/>
          <p:nvPr/>
        </p:nvSpPr>
        <p:spPr>
          <a:xfrm>
            <a:off x="6185916" y="41605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85916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185916" y="4617720"/>
            <a:ext cx="25443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Review fiber network quality and pricing</a:t>
            </a:r>
            <a:endParaRPr lang="en-US" sz="1400" dirty="0"/>
          </a:p>
        </p:txBody>
      </p:sp>
      <p:sp>
        <p:nvSpPr>
          <p:cNvPr id="29" name="Step badge"/>
          <p:cNvSpPr/>
          <p:nvPr/>
        </p:nvSpPr>
        <p:spPr>
          <a:xfrm>
            <a:off x="8913114" y="41605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913114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913114" y="4617720"/>
            <a:ext cx="25443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Track churn KPIs monthly on the Power BI dashboard</a:t>
            </a:r>
            <a:endParaRPr lang="en-US" sz="1400" dirty="0"/>
          </a:p>
        </p:txBody>
      </p:sp>
      <p:sp>
        <p:nvSpPr>
          <p:cNvPr id="32" name="Key insight bar"/>
          <p:cNvSpPr/>
          <p:nvPr/>
        </p:nvSpPr>
        <p:spPr>
          <a:xfrm>
            <a:off x="457200" y="5623560"/>
            <a:ext cx="11274552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Info icon"/>
          <p:cNvSpPr/>
          <p:nvPr/>
        </p:nvSpPr>
        <p:spPr>
          <a:xfrm>
            <a:off x="640080" y="5875020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080" y="58750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09728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Key insight: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Treat these findings as strong signals to test with small pilots, not as guaranteed causes.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76072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5" type="title" hasCustomPrompt="1"/>
          </p:nvPr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Summary &amp; Recommendations</a:t>
            </a:r>
            <a:endParaRPr lang="en-US" sz="2800" dirty="0"/>
          </a:p>
        </p:txBody>
      </p:sp>
      <p:sp>
        <p:nvSpPr>
          <p:cNvPr id="3" name="Number badge"/>
          <p:cNvSpPr/>
          <p:nvPr/>
        </p:nvSpPr>
        <p:spPr>
          <a:xfrm>
            <a:off x="457200" y="1463040"/>
            <a:ext cx="457200" cy="4572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41732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Churn is concentrated, not random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7465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26.5% overall, but 42.7% on month-to-month contracts versus 2.8% on two-year plans.</a:t>
            </a:r>
            <a:endParaRPr lang="en-US" sz="1400" dirty="0"/>
          </a:p>
        </p:txBody>
      </p:sp>
      <p:sp>
        <p:nvSpPr>
          <p:cNvPr id="7" name="Number badge"/>
          <p:cNvSpPr/>
          <p:nvPr/>
        </p:nvSpPr>
        <p:spPr>
          <a:xfrm>
            <a:off x="457200" y="2286000"/>
            <a:ext cx="457200" cy="4572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24028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The first year is the danger zone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56946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55.5% of churners left within 12 months, and churn is 52.9% in months 0 to 6.</a:t>
            </a:r>
            <a:endParaRPr lang="en-US" sz="1400" dirty="0"/>
          </a:p>
        </p:txBody>
      </p:sp>
      <p:sp>
        <p:nvSpPr>
          <p:cNvPr id="11" name="Number badge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0632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Fiber, e-check and missing support mark risk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39242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Fiber 41.9%, electronic check 45.3%; customers with tech support or security churn at about 15%.</a:t>
            </a:r>
            <a:endParaRPr lang="en-US" sz="1400" dirty="0"/>
          </a:p>
        </p:txBody>
      </p:sp>
      <p:sp>
        <p:nvSpPr>
          <p:cNvPr id="15" name="Number badge"/>
          <p:cNvSpPr/>
          <p:nvPr/>
        </p:nvSpPr>
        <p:spPr>
          <a:xfrm>
            <a:off x="457200" y="3931920"/>
            <a:ext cx="457200" cy="4572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88620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One segment drives 42% of churn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21538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Month-to-month + fiber + e-check: 18.6% of customers, 60.4% churn rate.</a:t>
            </a:r>
            <a:endParaRPr lang="en-US" sz="1400" dirty="0"/>
          </a:p>
        </p:txBody>
      </p:sp>
      <p:sp>
        <p:nvSpPr>
          <p:cNvPr id="19" name="Number badge"/>
          <p:cNvSpPr/>
          <p:nvPr/>
        </p:nvSpPr>
        <p:spPr>
          <a:xfrm>
            <a:off x="457200" y="4754880"/>
            <a:ext cx="457200" cy="4572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470916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Act early, and test before scaling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503834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Lock in contracts, onboard early, bundle support, push auto-pay, and A/B test first: these are patterns, not proven causes.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8C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1371600" y="2377440"/>
            <a:ext cx="94457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Any Questions?</a:t>
            </a:r>
            <a:endParaRPr lang="en-US" sz="54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1371600" y="3794760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Telecom Customer Churn Analysis  ·  DEPI Mini Project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1371600" y="2377440"/>
            <a:ext cx="94457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Thank You</a:t>
            </a:r>
            <a:endParaRPr lang="en-US" sz="54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1371600" y="3794760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Telecom Customer Churn Analysis  ·  DEPI Mini Project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urn Navy Teal">
  <a:themeElements>
    <a:clrScheme name="Churn Navy Teal">
      <a:dk1>
        <a:srgbClr val="16233F"/>
      </a:dk1>
      <a:lt1>
        <a:srgbClr val="FFFFFF"/>
      </a:lt1>
      <a:dk2>
        <a:srgbClr val="1F3A5F"/>
      </a:dk2>
      <a:lt2>
        <a:srgbClr val="F7F9FC"/>
      </a:lt2>
      <a:accent1>
        <a:srgbClr val="16A6A0"/>
      </a:accent1>
      <a:accent2>
        <a:srgbClr val="3E5C80"/>
      </a:accent2>
      <a:accent3>
        <a:srgbClr val="5B6B82"/>
      </a:accent3>
      <a:accent4>
        <a:srgbClr val="6FD8D2"/>
      </a:accent4>
      <a:accent5>
        <a:srgbClr val="DCE7F5"/>
      </a:accent5>
      <a:accent6>
        <a:srgbClr val="EEF3FA"/>
      </a:accent6>
      <a:hlink>
        <a:srgbClr val="16A6A0"/>
      </a:hlink>
      <a:folHlink>
        <a:srgbClr val="5B6B82"/>
      </a:folHlink>
    </a:clrScheme>
    <a:fontScheme name="Churn Navy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Telecom Customer Churn Analysis</dc:title>
  <dc:subject>DEPI Mini Project</dc:subject>
  <dc:creator>PptxGenJS</dc:creator>
  <cp:lastModifiedBy>PptxGenJS</cp:lastModifiedBy>
  <cp:revision>1</cp:revision>
  <dcterms:created xsi:type="dcterms:W3CDTF">2026-10-21T11:49:26Z</dcterms:created>
  <dcterms:modified xsi:type="dcterms:W3CDTF">2026-10-21T11:49:26Z</dcterms:modified>
</cp:coreProperties>
</file>